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8" r:id="rId3"/>
    <p:sldMasterId id="2147483703" r:id="rId4"/>
  </p:sldMasterIdLst>
  <p:notesMasterIdLst>
    <p:notesMasterId r:id="rId35"/>
  </p:notesMasterIdLst>
  <p:sldIdLst>
    <p:sldId id="276" r:id="rId5"/>
    <p:sldId id="257" r:id="rId6"/>
    <p:sldId id="259" r:id="rId7"/>
    <p:sldId id="281" r:id="rId8"/>
    <p:sldId id="283" r:id="rId9"/>
    <p:sldId id="284" r:id="rId10"/>
    <p:sldId id="331" r:id="rId11"/>
    <p:sldId id="352" r:id="rId12"/>
    <p:sldId id="312" r:id="rId13"/>
    <p:sldId id="362" r:id="rId14"/>
    <p:sldId id="328" r:id="rId15"/>
    <p:sldId id="330" r:id="rId16"/>
    <p:sldId id="361" r:id="rId17"/>
    <p:sldId id="363" r:id="rId18"/>
    <p:sldId id="344" r:id="rId19"/>
    <p:sldId id="309" r:id="rId20"/>
    <p:sldId id="303" r:id="rId21"/>
    <p:sldId id="367" r:id="rId22"/>
    <p:sldId id="359" r:id="rId23"/>
    <p:sldId id="353" r:id="rId24"/>
    <p:sldId id="343" r:id="rId25"/>
    <p:sldId id="364" r:id="rId26"/>
    <p:sldId id="365" r:id="rId27"/>
    <p:sldId id="366" r:id="rId28"/>
    <p:sldId id="260" r:id="rId29"/>
    <p:sldId id="300" r:id="rId30"/>
    <p:sldId id="265" r:id="rId31"/>
    <p:sldId id="321" r:id="rId32"/>
    <p:sldId id="318" r:id="rId33"/>
    <p:sldId id="29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D9D6"/>
    <a:srgbClr val="FF3300"/>
    <a:srgbClr val="E57EFF"/>
    <a:srgbClr val="B2BEF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81127-2C25-45A8-9D28-2CC42C652D5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0A7B2-756A-4589-B3E1-904883648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48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5487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0A7B2-756A-4589-B3E1-9048836487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36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3630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8204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C85E987E-85EF-9068-FE65-FE314050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>
            <a:extLst>
              <a:ext uri="{FF2B5EF4-FFF2-40B4-BE49-F238E27FC236}">
                <a16:creationId xmlns:a16="http://schemas.microsoft.com/office/drawing/2014/main" id="{69113549-68A7-F652-E81B-1B0B401DD5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6:notes">
            <a:extLst>
              <a:ext uri="{FF2B5EF4-FFF2-40B4-BE49-F238E27FC236}">
                <a16:creationId xmlns:a16="http://schemas.microsoft.com/office/drawing/2014/main" id="{899C1D83-C4AE-4F78-9C4A-3CC4FCCA6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630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4AED364-44FD-76E6-86EF-9499FD18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4B96B9D-C503-29D8-B015-F7BE7B9E6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7169E3F1-F199-E989-9E33-CA51D770CF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57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8907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99297B52-47A5-D8D4-7E96-EDA89B20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EB38D481-20B9-E559-3A70-3F41DA0252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C0FF162F-68AA-4F73-C4F9-6A8181B69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8825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BBD1826C-C6CC-216B-9ECC-D95AC072F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5389D492-78BA-1FC4-616D-6E62F833C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480685CA-01DE-7010-4666-40B81FDAD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304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B61384FC-B1F1-5FAC-9078-FF69373F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AB5E247F-E115-3A19-6F7F-34712005D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1F0AF772-3DB1-4724-EAD9-3269BAD16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7455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9FB84FAF-668B-0092-964C-FAE11B6C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E7571C62-50EE-9556-D32E-616144C12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660AFBCA-0FDF-3185-1CDB-226B39552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656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D5507D40-94D9-C7D5-7F88-93319A26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87F15F09-FAFC-CBF7-7288-CEE280E9F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0BFDEB3E-6AEA-8D12-D08E-D14DAB52A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5810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3745EB85-12CE-90C7-1C55-99D76BC7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6F3E226B-4722-9085-1060-7ECC1F5FA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C4B56586-640F-43FF-112B-BA7AA9A78E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19786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D2E963C-CC0E-C8DD-1863-02CF4684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DAD175E-1156-9017-2716-89DB57B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85DC5C0D-BEF0-5E28-9D09-6A01A9E68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7645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33E85A9C-BB55-26DE-8D81-F077225D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E9F4C3BB-6CBC-24EF-BDBE-BD84B2725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3E72E446-D564-F405-DCA2-5213F3DF7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8148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CAC321B-8487-4944-7FB9-444F8E0A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040168DF-EE6D-89A2-276A-3B834F74E7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44284C68-FFB9-83B5-6631-91FAEF897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589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EE599-1AB3-BA2E-C17F-EFBB399D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2B090-297D-22E0-3F7E-0E828FF58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830B2-4FAE-955B-AB20-46DECADBB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9119D-EC02-6050-0C21-C71DF2200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9250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EF23919-E497-F319-B50B-DC229DD8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01D9C3FA-1CFA-DD0E-75AC-99E6591E9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08630CB2-4BB7-8CB2-7699-406360589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8272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C25C1175-7B46-B83F-B8AC-DE4BEF546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53B4595A-5A93-E382-0596-D83526634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FD381D29-A596-8DCE-E017-716AED057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7499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86FCB3DA-A668-F6C2-17B6-D6E070ED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6DE9E1A4-B5AD-F526-195C-84BD93B97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A8BDDFC3-9368-23BE-EAE7-EE992ABB6D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314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C58D2A45-EA30-187B-A41A-9438EF56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0A02AB2D-C7D4-AD5C-8946-8757DDCDE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D00A2CC2-4503-6E1A-FFE2-9558646BC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2997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3806556-7D06-3D20-F185-50348D0FB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>
            <a:extLst>
              <a:ext uri="{FF2B5EF4-FFF2-40B4-BE49-F238E27FC236}">
                <a16:creationId xmlns:a16="http://schemas.microsoft.com/office/drawing/2014/main" id="{2B1E6AD9-CCE1-7361-D975-A318A3415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>
            <a:extLst>
              <a:ext uri="{FF2B5EF4-FFF2-40B4-BE49-F238E27FC236}">
                <a16:creationId xmlns:a16="http://schemas.microsoft.com/office/drawing/2014/main" id="{BCE81100-A0F5-1680-2A3F-DAE84658A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30265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00249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30046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515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BE55-06EC-B98B-CF6B-ED0AE23A3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9D20A-0B87-3710-47FC-A4B6F7DF0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C4914-82C8-6DE5-C9E4-7A49A780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B0B81-CFEE-25F3-8909-2765944EA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084FE-B646-141C-077C-7AE1F7DB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5A6B-C225-6CC2-32EC-91C2B425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B9BC8-D21F-473E-29ED-2E007E95C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1FF0D-F08F-11AD-B155-D90EA8CA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9ACB-FABE-3F57-E3AB-647523E2D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5A58C-175F-FA7C-98DF-EC64B3ED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8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969F-AF1B-68D4-8F4F-D85C28404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43677-6E6D-AB39-64CF-59875AEAA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D18-FF34-3F69-3A92-8038FC827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E185B-32F9-3BE1-07F4-17F0329BD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8E340-32DD-6E97-32CB-3FE0F4CB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0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05CB-F722-A036-4E97-32523275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6BDD-4911-5BD8-6330-5682F3BE4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DA985-81EC-1BEA-E53D-1440E5178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A1B74-5FD2-EDAA-EF4A-765949A8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FB2DD-A6A4-6A77-76BE-084E6A1F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3D810-8F15-9902-38FF-6D59BDC1E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3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7043-5B32-C2A7-1BB4-59508344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7E601-64C4-F80C-F603-9A4B23802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9A3E0-2DB5-31CE-0A15-7070C2C0F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718CB-5FB8-5EDF-133A-775BB25AA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1C714-8BAA-14D2-B3AF-AC1A766B3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BB408-5EAD-1660-A903-E374C1B9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96487-F3E1-60C1-250D-C448AABD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F2834E-71F6-FDE2-31D6-26F66243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0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D718-5C71-1928-705C-34E21AA8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DDF6B-F6EF-FE37-4A17-FB36602C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24730-AD55-EE2B-D1FA-2376FEDF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AE07D-828D-CD08-6B70-A3F90E59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5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39822-B77C-8E4F-6D22-BF0A040DC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0320B-0511-5CC2-BC54-1AC33A002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29FC8-A292-2C65-C228-906033C9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1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2F6F-76ED-1C4D-157F-96CC3074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754E0-2940-3C39-00FD-0BB8B1A9F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C8ED5-ED9F-5D03-7E4F-2B6CFAFB1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EB90B-2053-D462-1B38-044DC9B3A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D0709-F5B1-CEF7-108C-E71C5381E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62843-E7E6-1F04-255A-17CC6DBD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5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BFDA-0915-1F0A-8546-106BA445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238FB5-452D-6BB0-2558-6CB5C26C7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92F3B-DD9F-2A66-6FA6-ED8B9FE1B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2ABBA-5FA5-A331-B779-06042D7B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E3977-40D4-524A-AE84-6D2E0BA9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46E49-D76D-1896-02D3-73467BA5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7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2D4D-93BD-BE95-191C-7FFFACB1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F8037-1BC2-AC9E-2BCF-04A521D0D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15FA6-D58F-BCC5-80B4-E74A87C3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BD15-A0E5-0AEC-B75B-775FEF0B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5704C-F730-412F-3739-DDCFF97F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EE90E-49DB-A316-AC27-D4E49C808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C2396-2D37-FED8-62AD-3267BD096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9562D-D395-5C4A-9E8B-3DA8BE1CB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DD57D-3FC1-8640-AC89-294928DD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10F41-C488-1759-1E26-683D464B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92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5029200" y="2705187"/>
            <a:ext cx="6197600" cy="270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6667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5029200" y="5409539"/>
            <a:ext cx="6197600" cy="711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naheim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965200" y="762825"/>
            <a:ext cx="2774621" cy="2187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11733">
                <a:solidFill>
                  <a:schemeClr val="tx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2190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096000" y="2271250"/>
            <a:ext cx="5130800" cy="149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400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6096000" y="3857674"/>
            <a:ext cx="5130800" cy="46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bg2"/>
                </a:solidFill>
                <a:latin typeface="Lato" panose="020F0502020204030203" pitchFamily="34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7793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solidFill>
          <a:schemeClr val="bg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965200" y="2820831"/>
            <a:ext cx="4429853" cy="284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67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2pPr>
            <a:lvl3pPr marL="1828754" lvl="2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3pPr>
            <a:lvl4pPr marL="2438339" lvl="3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4pPr>
            <a:lvl5pPr marL="3047924" lvl="4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6340172" y="2820831"/>
            <a:ext cx="4429848" cy="284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67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2pPr>
            <a:lvl3pPr marL="1828754" lvl="2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3pPr>
            <a:lvl4pPr marL="2438339" lvl="3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4pPr>
            <a:lvl5pPr marL="3047924" lvl="4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965200" y="736600"/>
            <a:ext cx="10261600" cy="78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965200" y="2297522"/>
            <a:ext cx="4429853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340172" y="2297522"/>
            <a:ext cx="4429848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3443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bg>
      <p:bgPr>
        <a:solidFill>
          <a:schemeClr val="bg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965201" y="2151113"/>
            <a:ext cx="5632244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67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44025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2pPr>
            <a:lvl3pPr marL="1828754" lvl="2" indent="-44025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3pPr>
            <a:lvl4pPr marL="2438339" lvl="3" indent="-44025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4pPr>
            <a:lvl5pPr marL="3047924" lvl="4" indent="-44025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965200" y="736600"/>
            <a:ext cx="10261600" cy="66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0822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965200" y="1767369"/>
            <a:ext cx="10261600" cy="3432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6368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accent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965201" y="5125536"/>
            <a:ext cx="10261599" cy="995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5303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bg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965200" y="2057940"/>
            <a:ext cx="10261600" cy="174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6400"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965200" y="3800813"/>
            <a:ext cx="10261600" cy="66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400"/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068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857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Table of contents">
    <p:bg>
      <p:bgPr>
        <a:solidFill>
          <a:schemeClr val="bg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965200" y="736601"/>
            <a:ext cx="10261600" cy="70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2365037" y="3062070"/>
            <a:ext cx="3400323" cy="70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2365037" y="2036525"/>
            <a:ext cx="3400323" cy="104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3"/>
          </p:nvPr>
        </p:nvSpPr>
        <p:spPr>
          <a:xfrm>
            <a:off x="1138512" y="2282251"/>
            <a:ext cx="1047232" cy="70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2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4"/>
          </p:nvPr>
        </p:nvSpPr>
        <p:spPr>
          <a:xfrm>
            <a:off x="7645535" y="3062070"/>
            <a:ext cx="3400323" cy="70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5"/>
          </p:nvPr>
        </p:nvSpPr>
        <p:spPr>
          <a:xfrm>
            <a:off x="7645537" y="2036526"/>
            <a:ext cx="3400323" cy="104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6"/>
          </p:nvPr>
        </p:nvSpPr>
        <p:spPr>
          <a:xfrm>
            <a:off x="6445617" y="2283601"/>
            <a:ext cx="1020627" cy="701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2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7"/>
          </p:nvPr>
        </p:nvSpPr>
        <p:spPr>
          <a:xfrm>
            <a:off x="7645535" y="5191623"/>
            <a:ext cx="3400323" cy="7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8"/>
          </p:nvPr>
        </p:nvSpPr>
        <p:spPr>
          <a:xfrm>
            <a:off x="7645535" y="4219413"/>
            <a:ext cx="3400323" cy="104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9"/>
          </p:nvPr>
        </p:nvSpPr>
        <p:spPr>
          <a:xfrm>
            <a:off x="6445614" y="4462521"/>
            <a:ext cx="1020627" cy="701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2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3"/>
          </p:nvPr>
        </p:nvSpPr>
        <p:spPr>
          <a:xfrm>
            <a:off x="2365037" y="5191622"/>
            <a:ext cx="3400323" cy="7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4"/>
          </p:nvPr>
        </p:nvSpPr>
        <p:spPr>
          <a:xfrm>
            <a:off x="2365037" y="4219412"/>
            <a:ext cx="3400323" cy="104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5"/>
          </p:nvPr>
        </p:nvSpPr>
        <p:spPr>
          <a:xfrm>
            <a:off x="1138512" y="4466488"/>
            <a:ext cx="1047232" cy="701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2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5688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bg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title"/>
          </p:nvPr>
        </p:nvSpPr>
        <p:spPr>
          <a:xfrm>
            <a:off x="965200" y="736601"/>
            <a:ext cx="10261600" cy="70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1"/>
          </p:nvPr>
        </p:nvSpPr>
        <p:spPr>
          <a:xfrm>
            <a:off x="965201" y="4105272"/>
            <a:ext cx="3375739" cy="111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67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2pPr>
            <a:lvl3pPr marL="1828754" lvl="2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3pPr>
            <a:lvl4pPr marL="2438339" lvl="3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4pPr>
            <a:lvl5pPr marL="3047924" lvl="4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2"/>
          </p:nvPr>
        </p:nvSpPr>
        <p:spPr>
          <a:xfrm>
            <a:off x="4408132" y="4105272"/>
            <a:ext cx="3375739" cy="111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67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2pPr>
            <a:lvl3pPr marL="1828754" lvl="2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3pPr>
            <a:lvl4pPr marL="2438339" lvl="3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4pPr>
            <a:lvl5pPr marL="3047924" lvl="4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3"/>
          </p:nvPr>
        </p:nvSpPr>
        <p:spPr>
          <a:xfrm>
            <a:off x="965201" y="3581962"/>
            <a:ext cx="3375739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52" name="Google Shape;52;p21"/>
          <p:cNvSpPr txBox="1">
            <a:spLocks noGrp="1"/>
          </p:cNvSpPr>
          <p:nvPr>
            <p:ph type="body" idx="4"/>
          </p:nvPr>
        </p:nvSpPr>
        <p:spPr>
          <a:xfrm>
            <a:off x="4408131" y="3579724"/>
            <a:ext cx="3375739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5"/>
          </p:nvPr>
        </p:nvSpPr>
        <p:spPr>
          <a:xfrm>
            <a:off x="7851061" y="4105271"/>
            <a:ext cx="3375739" cy="111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67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2pPr>
            <a:lvl3pPr marL="1828754" lvl="2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3pPr>
            <a:lvl4pPr marL="2438339" lvl="3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4pPr>
            <a:lvl5pPr marL="3047924" lvl="4" indent="-44025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6"/>
          </p:nvPr>
        </p:nvSpPr>
        <p:spPr>
          <a:xfrm>
            <a:off x="7851063" y="3574191"/>
            <a:ext cx="3375739" cy="523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980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8;p21">
            <a:extLst>
              <a:ext uri="{FF2B5EF4-FFF2-40B4-BE49-F238E27FC236}">
                <a16:creationId xmlns:a16="http://schemas.microsoft.com/office/drawing/2014/main" id="{610FF660-843B-830C-355D-5F88BC8AC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200" y="736601"/>
            <a:ext cx="10261600" cy="68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7384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537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70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5029200" y="2705187"/>
            <a:ext cx="6197600" cy="270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6667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5029200" y="5409539"/>
            <a:ext cx="6197600" cy="711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naheim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965200" y="762825"/>
            <a:ext cx="2774621" cy="2187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11733">
                <a:solidFill>
                  <a:schemeClr val="tx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5343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096000" y="2271250"/>
            <a:ext cx="5130800" cy="149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400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6096000" y="3857674"/>
            <a:ext cx="5130800" cy="46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bg2"/>
                </a:solidFill>
                <a:latin typeface="Lato" panose="020F0502020204030203" pitchFamily="34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049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5029200" y="2705187"/>
            <a:ext cx="6197600" cy="270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6667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5029200" y="5409539"/>
            <a:ext cx="6197600" cy="711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naheim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965200" y="762825"/>
            <a:ext cx="2774621" cy="2187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11733">
                <a:solidFill>
                  <a:schemeClr val="tx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2081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bg>
      <p:bgPr>
        <a:solidFill>
          <a:schemeClr val="bg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965201" y="2151113"/>
            <a:ext cx="5632244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67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44025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2pPr>
            <a:lvl3pPr marL="1828754" lvl="2" indent="-44025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3pPr>
            <a:lvl4pPr marL="2438339" lvl="3" indent="-44025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4pPr>
            <a:lvl5pPr marL="3047924" lvl="4" indent="-44025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965200" y="736600"/>
            <a:ext cx="10261600" cy="66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6040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965200" y="1767369"/>
            <a:ext cx="10261600" cy="3432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2472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accent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965201" y="5125536"/>
            <a:ext cx="10261599" cy="995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0082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bg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965200" y="2057940"/>
            <a:ext cx="10261600" cy="174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6400"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965200" y="3800813"/>
            <a:ext cx="10261600" cy="66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>
                <a:solidFill>
                  <a:schemeClr val="tx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400"/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6729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486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Table of contents">
    <p:bg>
      <p:bgPr>
        <a:solidFill>
          <a:schemeClr val="bg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965200" y="736601"/>
            <a:ext cx="10261600" cy="70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2365037" y="3062070"/>
            <a:ext cx="3400323" cy="70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2365037" y="2036525"/>
            <a:ext cx="3400323" cy="104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3"/>
          </p:nvPr>
        </p:nvSpPr>
        <p:spPr>
          <a:xfrm>
            <a:off x="1138512" y="2282251"/>
            <a:ext cx="1047232" cy="70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2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4"/>
          </p:nvPr>
        </p:nvSpPr>
        <p:spPr>
          <a:xfrm>
            <a:off x="7645535" y="3062070"/>
            <a:ext cx="3400323" cy="70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5"/>
          </p:nvPr>
        </p:nvSpPr>
        <p:spPr>
          <a:xfrm>
            <a:off x="7645537" y="2036526"/>
            <a:ext cx="3400323" cy="104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6"/>
          </p:nvPr>
        </p:nvSpPr>
        <p:spPr>
          <a:xfrm>
            <a:off x="6445617" y="2283601"/>
            <a:ext cx="1020627" cy="701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2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7"/>
          </p:nvPr>
        </p:nvSpPr>
        <p:spPr>
          <a:xfrm>
            <a:off x="7645535" y="5191623"/>
            <a:ext cx="3400323" cy="7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8"/>
          </p:nvPr>
        </p:nvSpPr>
        <p:spPr>
          <a:xfrm>
            <a:off x="7645535" y="4219413"/>
            <a:ext cx="3400323" cy="104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9"/>
          </p:nvPr>
        </p:nvSpPr>
        <p:spPr>
          <a:xfrm>
            <a:off x="6445614" y="4462521"/>
            <a:ext cx="1020627" cy="701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2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3"/>
          </p:nvPr>
        </p:nvSpPr>
        <p:spPr>
          <a:xfrm>
            <a:off x="2365037" y="5191622"/>
            <a:ext cx="3400323" cy="7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  <a:latin typeface="Lato" panose="020F0502020204030203" pitchFamily="34" charset="0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4"/>
          </p:nvPr>
        </p:nvSpPr>
        <p:spPr>
          <a:xfrm>
            <a:off x="2365037" y="4219412"/>
            <a:ext cx="3400323" cy="104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667" b="1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5"/>
          </p:nvPr>
        </p:nvSpPr>
        <p:spPr>
          <a:xfrm>
            <a:off x="1138512" y="4466488"/>
            <a:ext cx="1047232" cy="701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200" b="1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735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8;p21">
            <a:extLst>
              <a:ext uri="{FF2B5EF4-FFF2-40B4-BE49-F238E27FC236}">
                <a16:creationId xmlns:a16="http://schemas.microsoft.com/office/drawing/2014/main" id="{610FF660-843B-830C-355D-5F88BC8AC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200" y="736601"/>
            <a:ext cx="10261600" cy="68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  <a:latin typeface="Sora SemiBold" pitchFamily="2" charset="0"/>
                <a:cs typeface="Sora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25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477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674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edia Placeholder 10">
            <a:extLst>
              <a:ext uri="{FF2B5EF4-FFF2-40B4-BE49-F238E27FC236}">
                <a16:creationId xmlns:a16="http://schemas.microsoft.com/office/drawing/2014/main" id="{1154DBCB-1D6A-34F7-C62B-EA8309F0D06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7153277" y="731839"/>
            <a:ext cx="3821113" cy="54816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Video Here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06936-CB86-0BCA-AFA4-3949B63C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30D3-EFA7-4E26-9010-F3B88CF74730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EE3C4-16B1-D758-58C3-66090C85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4DEE6-0FE7-3E62-D65B-E275CDF4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99DD8-29B8-45B5-8982-15F856556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557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17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871892-2373-90FB-8FEE-2DEDFAED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48185-3653-4705-CC03-7E194D860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9824E-BF38-BE25-2B45-1B58FC545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FF964-2EE4-4AE8-B2C8-2AA31BA66B0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E0050-C1DD-3957-5314-255571373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5E8EE-2C3C-5DE4-4A55-A4F613032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EE12F-A6C3-4CEA-8D99-3FB9E2E1B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E8A828-225D-A17D-2193-919821C3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736601"/>
            <a:ext cx="10261600" cy="747643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21E021-4DD6-BC25-96F6-228BE587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5200" y="1935240"/>
            <a:ext cx="10261600" cy="4186161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080728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12" r:id="rId1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667" b="1" i="0" u="none" strike="noStrike" cap="none">
          <a:solidFill>
            <a:schemeClr val="bg2"/>
          </a:solidFill>
          <a:latin typeface="Sora SemiBold" panose="020B0604020202020204" charset="0"/>
          <a:ea typeface="Sora SemiBold" panose="020B0604020202020204" charset="0"/>
          <a:cs typeface="Sora SemiBold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chemeClr val="bg2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E8A828-225D-A17D-2193-919821C3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736601"/>
            <a:ext cx="10261600" cy="747643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21E021-4DD6-BC25-96F6-228BE587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5200" y="1935240"/>
            <a:ext cx="10261600" cy="4186161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486539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9" r:id="rId9"/>
    <p:sldLayoutId id="2147483700" r:id="rId10"/>
    <p:sldLayoutId id="2147483701" r:id="rId11"/>
    <p:sldLayoutId id="2147483702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667" b="1" i="0" u="none" strike="noStrike" cap="none">
          <a:solidFill>
            <a:schemeClr val="bg2"/>
          </a:solidFill>
          <a:latin typeface="Sora SemiBold" panose="020B0604020202020204" charset="0"/>
          <a:ea typeface="Sora SemiBold" panose="020B0604020202020204" charset="0"/>
          <a:cs typeface="Sora SemiBold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chemeClr val="bg2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99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.svg"/><Relationship Id="rId9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9" Type="http://schemas.openxmlformats.org/officeDocument/2006/relationships/image" Target="../media/image3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microsoft.com/office/2007/relationships/hdphoto" Target="../media/hdphoto1.wdp"/><Relationship Id="rId4" Type="http://schemas.openxmlformats.org/officeDocument/2006/relationships/image" Target="../media/image27.sv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35.sv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9" Type="http://schemas.openxmlformats.org/officeDocument/2006/relationships/image" Target="../media/image4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41.png"/><Relationship Id="rId3" Type="http://schemas.openxmlformats.org/officeDocument/2006/relationships/image" Target="../media/image50.png"/><Relationship Id="rId7" Type="http://schemas.openxmlformats.org/officeDocument/2006/relationships/image" Target="../media/image23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3.svg"/><Relationship Id="rId11" Type="http://schemas.openxmlformats.org/officeDocument/2006/relationships/image" Target="../media/image21.png"/><Relationship Id="rId5" Type="http://schemas.openxmlformats.org/officeDocument/2006/relationships/image" Target="../media/image52.png"/><Relationship Id="rId10" Type="http://schemas.openxmlformats.org/officeDocument/2006/relationships/image" Target="../media/image55.svg"/><Relationship Id="rId4" Type="http://schemas.openxmlformats.org/officeDocument/2006/relationships/image" Target="../media/image51.svg"/><Relationship Id="rId9" Type="http://schemas.openxmlformats.org/officeDocument/2006/relationships/image" Target="../media/image54.png"/><Relationship Id="rId14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41.png"/><Relationship Id="rId3" Type="http://schemas.openxmlformats.org/officeDocument/2006/relationships/image" Target="../media/image50.png"/><Relationship Id="rId7" Type="http://schemas.openxmlformats.org/officeDocument/2006/relationships/image" Target="../media/image23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3.svg"/><Relationship Id="rId11" Type="http://schemas.openxmlformats.org/officeDocument/2006/relationships/image" Target="../media/image21.png"/><Relationship Id="rId5" Type="http://schemas.openxmlformats.org/officeDocument/2006/relationships/image" Target="../media/image52.png"/><Relationship Id="rId10" Type="http://schemas.openxmlformats.org/officeDocument/2006/relationships/image" Target="../media/image55.svg"/><Relationship Id="rId4" Type="http://schemas.openxmlformats.org/officeDocument/2006/relationships/image" Target="../media/image51.svg"/><Relationship Id="rId9" Type="http://schemas.openxmlformats.org/officeDocument/2006/relationships/image" Target="../media/image54.png"/><Relationship Id="rId14" Type="http://schemas.openxmlformats.org/officeDocument/2006/relationships/image" Target="../media/image4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57.png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svg"/><Relationship Id="rId11" Type="http://schemas.openxmlformats.org/officeDocument/2006/relationships/image" Target="../media/image14.pn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5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5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5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35.svg"/><Relationship Id="rId9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77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9.svg"/><Relationship Id="rId11" Type="http://schemas.openxmlformats.org/officeDocument/2006/relationships/image" Target="../media/image9.png"/><Relationship Id="rId5" Type="http://schemas.openxmlformats.org/officeDocument/2006/relationships/image" Target="../media/image48.png"/><Relationship Id="rId15" Type="http://schemas.openxmlformats.org/officeDocument/2006/relationships/image" Target="../media/image36.png"/><Relationship Id="rId10" Type="http://schemas.openxmlformats.org/officeDocument/2006/relationships/image" Target="../media/image80.svg"/><Relationship Id="rId4" Type="http://schemas.openxmlformats.org/officeDocument/2006/relationships/image" Target="../media/image78.svg"/><Relationship Id="rId9" Type="http://schemas.openxmlformats.org/officeDocument/2006/relationships/image" Target="../media/image79.png"/><Relationship Id="rId14" Type="http://schemas.openxmlformats.org/officeDocument/2006/relationships/image" Target="../media/image1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as2301514@tkh.edu.eg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3.png"/><Relationship Id="rId5" Type="http://schemas.openxmlformats.org/officeDocument/2006/relationships/image" Target="../media/image81.png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3" Type="http://schemas.openxmlformats.org/officeDocument/2006/relationships/image" Target="../media/image50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1781927" y="2492200"/>
            <a:ext cx="8628146" cy="2458152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pPr lvl="0" algn="ctr"/>
            <a:r>
              <a:rPr lang="en-US" sz="5333" b="1" dirty="0">
                <a:solidFill>
                  <a:srgbClr val="FF0000"/>
                </a:solidFill>
                <a:latin typeface="Sora SemiBold" panose="020B0604020202020204" charset="0"/>
                <a:ea typeface="Poppins Black"/>
                <a:cs typeface="Sora SemiBold" panose="020B0604020202020204" charset="0"/>
                <a:sym typeface="Poppins Black"/>
              </a:rPr>
              <a:t>AI-powered </a:t>
            </a:r>
            <a:r>
              <a:rPr lang="en-US" sz="5333" dirty="0">
                <a:solidFill>
                  <a:srgbClr val="FF0000"/>
                </a:solidFill>
                <a:latin typeface="Sora SemiBold" panose="020B0604020202020204" charset="0"/>
                <a:ea typeface="Poppins Black"/>
                <a:cs typeface="Sora SemiBold" panose="020B0604020202020204" charset="0"/>
                <a:sym typeface="Poppins Black"/>
              </a:rPr>
              <a:t>Smart Lighting &amp; Energy Management for Smart Cities</a:t>
            </a:r>
            <a:endParaRPr lang="en-US" sz="5333" dirty="0">
              <a:solidFill>
                <a:srgbClr val="FF0000"/>
              </a:solidFill>
              <a:latin typeface="Sora SemiBold" panose="020B0604020202020204" charset="0"/>
              <a:cs typeface="Sora SemiBold" panose="020B060402020202020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A8B0E6-937E-B98F-A32E-B0AC0D8844F6}"/>
              </a:ext>
            </a:extLst>
          </p:cNvPr>
          <p:cNvGrpSpPr/>
          <p:nvPr/>
        </p:nvGrpSpPr>
        <p:grpSpPr>
          <a:xfrm>
            <a:off x="-344130" y="6003597"/>
            <a:ext cx="3179359" cy="885283"/>
            <a:chOff x="-258098" y="4115513"/>
            <a:chExt cx="3691861" cy="1027987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FDB74C9-0552-6BF3-61E7-68BCD0CD0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09D1F14-185E-8EA4-05BF-B3E09A528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4743024-F71C-1C4D-0063-EAC7C7F3C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0" y="4372173"/>
              <a:ext cx="2521974" cy="77132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FEBC4B-F09E-30D0-FF88-0606D4098A72}"/>
              </a:ext>
            </a:extLst>
          </p:cNvPr>
          <p:cNvGrpSpPr/>
          <p:nvPr/>
        </p:nvGrpSpPr>
        <p:grpSpPr>
          <a:xfrm>
            <a:off x="11604774" y="-372332"/>
            <a:ext cx="723105" cy="2453467"/>
            <a:chOff x="8405486" y="-381319"/>
            <a:chExt cx="840423" cy="285152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6808DD8-1EAB-F902-F0BA-1CDBCBFD0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05486" y="0"/>
              <a:ext cx="738514" cy="2470201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DFA0E1AB-B555-D73A-D828-CA6E04861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95236" y="1"/>
              <a:ext cx="448764" cy="17474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897D42F-585E-8794-8893-333986521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853251" y="-381319"/>
              <a:ext cx="392658" cy="128386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F544221-1042-1577-2D24-5A3E0316BBAE}"/>
              </a:ext>
            </a:extLst>
          </p:cNvPr>
          <p:cNvGrpSpPr/>
          <p:nvPr/>
        </p:nvGrpSpPr>
        <p:grpSpPr>
          <a:xfrm rot="10800000" flipV="1">
            <a:off x="9188027" y="3883212"/>
            <a:ext cx="3003973" cy="3005667"/>
            <a:chOff x="152400" y="3041650"/>
            <a:chExt cx="2252980" cy="2254250"/>
          </a:xfrm>
        </p:grpSpPr>
        <p:sp>
          <p:nvSpPr>
            <p:cNvPr id="3" name="Freeform 23">
              <a:extLst>
                <a:ext uri="{FF2B5EF4-FFF2-40B4-BE49-F238E27FC236}">
                  <a16:creationId xmlns:a16="http://schemas.microsoft.com/office/drawing/2014/main" id="{FDC77B39-FAB7-A74B-2393-80E7105E5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00" y="3041650"/>
              <a:ext cx="1135380" cy="1514475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2B234A93-E715-30B1-6970-422A40293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00" y="4558665"/>
              <a:ext cx="737235" cy="737235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8AF4"/>
            </a:solidFill>
            <a:ln>
              <a:noFill/>
            </a:ln>
          </p:spPr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endParaRPr lang="en-US" sz="2400" dirty="0"/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3C8EC0D0-9F40-0E69-5B53-717C0B241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100" y="4556760"/>
              <a:ext cx="1478280" cy="739140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endParaRPr lang="en-US" sz="24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BD67697-456D-1F09-88F3-C695810CB70A}"/>
              </a:ext>
            </a:extLst>
          </p:cNvPr>
          <p:cNvSpPr txBox="1"/>
          <p:nvPr/>
        </p:nvSpPr>
        <p:spPr>
          <a:xfrm>
            <a:off x="4815566" y="6249943"/>
            <a:ext cx="633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Sora SemiBold" panose="020B0604020202020204" charset="0"/>
              </a:rPr>
              <a:t>Internship @ ACUD</a:t>
            </a:r>
          </a:p>
        </p:txBody>
      </p:sp>
      <p:pic>
        <p:nvPicPr>
          <p:cNvPr id="1030" name="Picture 6" descr="Home Page">
            <a:extLst>
              <a:ext uri="{FF2B5EF4-FFF2-40B4-BE49-F238E27FC236}">
                <a16:creationId xmlns:a16="http://schemas.microsoft.com/office/drawing/2014/main" id="{7F445FCF-6B1D-4EC7-6DB2-1E79B01CA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10211" cy="212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hand holding a phone and a light bulb&#10;&#10;AI-generated content may be incorrect.">
            <a:extLst>
              <a:ext uri="{FF2B5EF4-FFF2-40B4-BE49-F238E27FC236}">
                <a16:creationId xmlns:a16="http://schemas.microsoft.com/office/drawing/2014/main" id="{622D29F7-5034-F18B-E92E-2914EF0ACA2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265" y="-44243"/>
            <a:ext cx="2173915" cy="217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8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19659" y="-258401"/>
            <a:ext cx="7039051" cy="234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599"/>
              </a:lnSpc>
            </a:pPr>
            <a:r>
              <a:rPr lang="en-US" sz="9600" noProof="0" dirty="0">
                <a:latin typeface="Agency FB" panose="020B0503020202020204" pitchFamily="34" charset="0"/>
              </a:rPr>
              <a:t>Table of contents</a:t>
            </a:r>
            <a:endParaRPr lang="en-US" sz="15427" spc="262" dirty="0">
              <a:latin typeface="Agency FB" panose="020B0503020202020204" pitchFamily="34" charset="0"/>
            </a:endParaRPr>
          </a:p>
        </p:txBody>
      </p:sp>
      <p:sp>
        <p:nvSpPr>
          <p:cNvPr id="82" name="Google Shape;93;p3">
            <a:extLst>
              <a:ext uri="{FF2B5EF4-FFF2-40B4-BE49-F238E27FC236}">
                <a16:creationId xmlns:a16="http://schemas.microsoft.com/office/drawing/2014/main" id="{8FC25B84-E9C5-C66F-74C5-7B7D8B81C373}"/>
              </a:ext>
            </a:extLst>
          </p:cNvPr>
          <p:cNvSpPr txBox="1">
            <a:spLocks noGrp="1"/>
          </p:cNvSpPr>
          <p:nvPr/>
        </p:nvSpPr>
        <p:spPr>
          <a:xfrm>
            <a:off x="1248461" y="2555413"/>
            <a:ext cx="2550242" cy="3579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sym typeface="Bebas Neue"/>
              </a:rPr>
              <a:t>Introduction</a:t>
            </a:r>
          </a:p>
        </p:txBody>
      </p:sp>
      <p:sp>
        <p:nvSpPr>
          <p:cNvPr id="83" name="Google Shape;94;p3">
            <a:extLst>
              <a:ext uri="{FF2B5EF4-FFF2-40B4-BE49-F238E27FC236}">
                <a16:creationId xmlns:a16="http://schemas.microsoft.com/office/drawing/2014/main" id="{0ED14D7C-590E-06EB-F70F-0AE122AC10E8}"/>
              </a:ext>
            </a:extLst>
          </p:cNvPr>
          <p:cNvSpPr txBox="1">
            <a:spLocks noGrp="1"/>
          </p:cNvSpPr>
          <p:nvPr/>
        </p:nvSpPr>
        <p:spPr>
          <a:xfrm>
            <a:off x="522513" y="2387554"/>
            <a:ext cx="604371" cy="525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1" i="0" u="none" strike="noStrike" cap="none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ra SemiBold" pitchFamily="2" charset="0"/>
                <a:sym typeface="Bebas Neue"/>
              </a:rPr>
              <a:t>01</a:t>
            </a:r>
          </a:p>
        </p:txBody>
      </p:sp>
      <p:sp>
        <p:nvSpPr>
          <p:cNvPr id="84" name="Google Shape;96;p3">
            <a:extLst>
              <a:ext uri="{FF2B5EF4-FFF2-40B4-BE49-F238E27FC236}">
                <a16:creationId xmlns:a16="http://schemas.microsoft.com/office/drawing/2014/main" id="{E7536308-97DD-EA44-B7EC-28DF9616D30A}"/>
              </a:ext>
            </a:extLst>
          </p:cNvPr>
          <p:cNvSpPr txBox="1">
            <a:spLocks noGrp="1"/>
          </p:cNvSpPr>
          <p:nvPr/>
        </p:nvSpPr>
        <p:spPr>
          <a:xfrm>
            <a:off x="5132048" y="2162931"/>
            <a:ext cx="3266071" cy="784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lang="en-US" sz="2800" kern="0" dirty="0">
                <a:solidFill>
                  <a:schemeClr val="tx1"/>
                </a:solidFill>
                <a:latin typeface="Aptos" panose="020B0004020202020204" pitchFamily="34" charset="0"/>
              </a:rPr>
              <a:t>System Overview</a:t>
            </a:r>
          </a:p>
        </p:txBody>
      </p:sp>
      <p:sp>
        <p:nvSpPr>
          <p:cNvPr id="93" name="Google Shape;102;p3">
            <a:extLst>
              <a:ext uri="{FF2B5EF4-FFF2-40B4-BE49-F238E27FC236}">
                <a16:creationId xmlns:a16="http://schemas.microsoft.com/office/drawing/2014/main" id="{C2AEC439-04BA-AFB3-0606-918942695F15}"/>
              </a:ext>
            </a:extLst>
          </p:cNvPr>
          <p:cNvSpPr txBox="1">
            <a:spLocks/>
          </p:cNvSpPr>
          <p:nvPr/>
        </p:nvSpPr>
        <p:spPr>
          <a:xfrm>
            <a:off x="5132048" y="4284027"/>
            <a:ext cx="3167894" cy="525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800" b="1" i="0" u="none" strike="noStrike" kern="0" cap="none">
                <a:solidFill>
                  <a:schemeClr val="bg2"/>
                </a:solidFill>
                <a:latin typeface="Sora SemiBold" pitchFamily="2" charset="0"/>
                <a:ea typeface="Arial"/>
                <a:cs typeface="Arial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lvl="0">
              <a:buSzPts val="2500"/>
              <a:defRPr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Contact data</a:t>
            </a:r>
          </a:p>
        </p:txBody>
      </p:sp>
      <p:sp>
        <p:nvSpPr>
          <p:cNvPr id="94" name="Google Shape;99;p3">
            <a:extLst>
              <a:ext uri="{FF2B5EF4-FFF2-40B4-BE49-F238E27FC236}">
                <a16:creationId xmlns:a16="http://schemas.microsoft.com/office/drawing/2014/main" id="{791F54C6-9087-F216-DA68-F1F3482D28BF}"/>
              </a:ext>
            </a:extLst>
          </p:cNvPr>
          <p:cNvSpPr txBox="1">
            <a:spLocks/>
          </p:cNvSpPr>
          <p:nvPr/>
        </p:nvSpPr>
        <p:spPr>
          <a:xfrm>
            <a:off x="1126880" y="3347080"/>
            <a:ext cx="3561050" cy="4795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 kern="0" dirty="0">
                <a:solidFill>
                  <a:schemeClr val="tx1"/>
                </a:solidFill>
                <a:latin typeface="Aptos" panose="020B0004020202020204" pitchFamily="34" charset="0"/>
              </a:rPr>
              <a:t>Recommendations</a:t>
            </a:r>
          </a:p>
        </p:txBody>
      </p:sp>
      <p:sp>
        <p:nvSpPr>
          <p:cNvPr id="95" name="Google Shape;102;p3">
            <a:extLst>
              <a:ext uri="{FF2B5EF4-FFF2-40B4-BE49-F238E27FC236}">
                <a16:creationId xmlns:a16="http://schemas.microsoft.com/office/drawing/2014/main" id="{3C850381-C73F-732D-7BBE-E91919440EE4}"/>
              </a:ext>
            </a:extLst>
          </p:cNvPr>
          <p:cNvSpPr txBox="1">
            <a:spLocks/>
          </p:cNvSpPr>
          <p:nvPr/>
        </p:nvSpPr>
        <p:spPr>
          <a:xfrm>
            <a:off x="1192316" y="4239557"/>
            <a:ext cx="2724319" cy="525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 kern="0" dirty="0">
                <a:solidFill>
                  <a:schemeClr val="tx1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103" name="Google Shape;94;p3">
            <a:extLst>
              <a:ext uri="{FF2B5EF4-FFF2-40B4-BE49-F238E27FC236}">
                <a16:creationId xmlns:a16="http://schemas.microsoft.com/office/drawing/2014/main" id="{373326F8-B6D7-0674-22C7-8F871A0A4396}"/>
              </a:ext>
            </a:extLst>
          </p:cNvPr>
          <p:cNvSpPr txBox="1">
            <a:spLocks noGrp="1"/>
          </p:cNvSpPr>
          <p:nvPr/>
        </p:nvSpPr>
        <p:spPr>
          <a:xfrm>
            <a:off x="499961" y="3287198"/>
            <a:ext cx="604371" cy="525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1" i="0" u="none" strike="noStrike" cap="none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ra SemiBold" pitchFamily="2" charset="0"/>
                <a:sym typeface="Bebas Neue"/>
              </a:rPr>
              <a:t>03</a:t>
            </a:r>
          </a:p>
        </p:txBody>
      </p:sp>
      <p:sp>
        <p:nvSpPr>
          <p:cNvPr id="104" name="Google Shape;94;p3">
            <a:extLst>
              <a:ext uri="{FF2B5EF4-FFF2-40B4-BE49-F238E27FC236}">
                <a16:creationId xmlns:a16="http://schemas.microsoft.com/office/drawing/2014/main" id="{43EF594A-514A-E171-888F-93481075E840}"/>
              </a:ext>
            </a:extLst>
          </p:cNvPr>
          <p:cNvSpPr txBox="1">
            <a:spLocks noGrp="1"/>
          </p:cNvSpPr>
          <p:nvPr/>
        </p:nvSpPr>
        <p:spPr>
          <a:xfrm>
            <a:off x="499961" y="4264832"/>
            <a:ext cx="604371" cy="525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1" i="0" u="none" strike="noStrike" cap="none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ra SemiBold" pitchFamily="2" charset="0"/>
                <a:sym typeface="Bebas Neue"/>
              </a:rPr>
              <a:t>05</a:t>
            </a:r>
          </a:p>
        </p:txBody>
      </p:sp>
      <p:sp>
        <p:nvSpPr>
          <p:cNvPr id="106" name="Google Shape;94;p3">
            <a:extLst>
              <a:ext uri="{FF2B5EF4-FFF2-40B4-BE49-F238E27FC236}">
                <a16:creationId xmlns:a16="http://schemas.microsoft.com/office/drawing/2014/main" id="{0CD4B1E5-C2C0-8E92-C1C3-29A6C2F747DB}"/>
              </a:ext>
            </a:extLst>
          </p:cNvPr>
          <p:cNvSpPr txBox="1">
            <a:spLocks noGrp="1"/>
          </p:cNvSpPr>
          <p:nvPr/>
        </p:nvSpPr>
        <p:spPr>
          <a:xfrm>
            <a:off x="4411229" y="2408312"/>
            <a:ext cx="604371" cy="525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1" i="0" u="none" strike="noStrike" cap="none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ra SemiBold" pitchFamily="2" charset="0"/>
                <a:sym typeface="Bebas Neue"/>
              </a:rPr>
              <a:t>02</a:t>
            </a:r>
          </a:p>
        </p:txBody>
      </p:sp>
      <p:sp>
        <p:nvSpPr>
          <p:cNvPr id="108" name="Google Shape;94;p3">
            <a:extLst>
              <a:ext uri="{FF2B5EF4-FFF2-40B4-BE49-F238E27FC236}">
                <a16:creationId xmlns:a16="http://schemas.microsoft.com/office/drawing/2014/main" id="{3F057684-4AA1-2AD5-74A9-6EC04F0BFCC9}"/>
              </a:ext>
            </a:extLst>
          </p:cNvPr>
          <p:cNvSpPr txBox="1">
            <a:spLocks noGrp="1"/>
          </p:cNvSpPr>
          <p:nvPr/>
        </p:nvSpPr>
        <p:spPr>
          <a:xfrm>
            <a:off x="4411226" y="3346560"/>
            <a:ext cx="604371" cy="525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1" i="0" u="none" strike="noStrike" cap="none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ra SemiBold" pitchFamily="2" charset="0"/>
                <a:sym typeface="Bebas Neue"/>
              </a:rPr>
              <a:t>04</a:t>
            </a:r>
          </a:p>
        </p:txBody>
      </p:sp>
      <p:sp>
        <p:nvSpPr>
          <p:cNvPr id="109" name="Google Shape;94;p3">
            <a:extLst>
              <a:ext uri="{FF2B5EF4-FFF2-40B4-BE49-F238E27FC236}">
                <a16:creationId xmlns:a16="http://schemas.microsoft.com/office/drawing/2014/main" id="{9D4DA119-4B9C-1304-D3F0-D89FD015C614}"/>
              </a:ext>
            </a:extLst>
          </p:cNvPr>
          <p:cNvSpPr txBox="1">
            <a:spLocks noGrp="1"/>
          </p:cNvSpPr>
          <p:nvPr/>
        </p:nvSpPr>
        <p:spPr>
          <a:xfrm>
            <a:off x="4411226" y="4260315"/>
            <a:ext cx="604371" cy="525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400" b="1" i="0" u="none" strike="noStrike" cap="none">
                <a:solidFill>
                  <a:schemeClr val="bg2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ra SemiBold" pitchFamily="2" charset="0"/>
                <a:sym typeface="Bebas Neue"/>
              </a:rPr>
              <a:t>06</a:t>
            </a:r>
          </a:p>
        </p:txBody>
      </p:sp>
      <p:sp>
        <p:nvSpPr>
          <p:cNvPr id="111" name="Google Shape;102;p3">
            <a:extLst>
              <a:ext uri="{FF2B5EF4-FFF2-40B4-BE49-F238E27FC236}">
                <a16:creationId xmlns:a16="http://schemas.microsoft.com/office/drawing/2014/main" id="{1A93279D-1515-2B96-C57D-703625D90580}"/>
              </a:ext>
            </a:extLst>
          </p:cNvPr>
          <p:cNvSpPr txBox="1">
            <a:spLocks noGrp="1"/>
          </p:cNvSpPr>
          <p:nvPr/>
        </p:nvSpPr>
        <p:spPr>
          <a:xfrm>
            <a:off x="5137127" y="3273645"/>
            <a:ext cx="3266071" cy="5915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lang="en-US" sz="2800" kern="0" dirty="0">
                <a:solidFill>
                  <a:schemeClr val="tx1"/>
                </a:solidFill>
                <a:latin typeface="Aptos" panose="020B0004020202020204" pitchFamily="34" charset="0"/>
              </a:rPr>
              <a:t>Business Plan</a:t>
            </a:r>
          </a:p>
        </p:txBody>
      </p:sp>
      <p:sp>
        <p:nvSpPr>
          <p:cNvPr id="112" name="Google Shape;102;p3">
            <a:extLst>
              <a:ext uri="{FF2B5EF4-FFF2-40B4-BE49-F238E27FC236}">
                <a16:creationId xmlns:a16="http://schemas.microsoft.com/office/drawing/2014/main" id="{C6735494-9C82-B885-8070-573B0C34ADF8}"/>
              </a:ext>
            </a:extLst>
          </p:cNvPr>
          <p:cNvSpPr txBox="1">
            <a:spLocks noGrp="1"/>
          </p:cNvSpPr>
          <p:nvPr/>
        </p:nvSpPr>
        <p:spPr>
          <a:xfrm>
            <a:off x="1214420" y="5962073"/>
            <a:ext cx="3266071" cy="525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bg1"/>
                </a:solidFill>
                <a:latin typeface="Sora SemiBold" pitchFamily="2" charset="0"/>
                <a:ea typeface="Sora SemiBold" pitchFamily="2" charset="0"/>
                <a:cs typeface="Sora SemiBold" pitchFamily="2" charset="0"/>
                <a:sym typeface="Bebas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endParaRPr lang="en-US" sz="2800" kern="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2" descr="A white board with a graph and arrow&#10;&#10;AI-generated content may be incorrect.">
            <a:extLst>
              <a:ext uri="{FF2B5EF4-FFF2-40B4-BE49-F238E27FC236}">
                <a16:creationId xmlns:a16="http://schemas.microsoft.com/office/drawing/2014/main" id="{0433EA07-D00E-A71E-9678-5ABCFCB8F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3" b="31059"/>
          <a:stretch/>
        </p:blipFill>
        <p:spPr>
          <a:xfrm>
            <a:off x="8491732" y="2689268"/>
            <a:ext cx="3501622" cy="206624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5575905" y="3429000"/>
            <a:ext cx="6197600" cy="2704352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8000" b="1" dirty="0">
                <a:solidFill>
                  <a:schemeClr val="tx1"/>
                </a:solidFill>
              </a:rPr>
              <a:t>Introduction</a:t>
            </a:r>
            <a:br>
              <a:rPr lang="en-US" sz="8000" b="1" noProof="0" dirty="0">
                <a:solidFill>
                  <a:schemeClr val="tx1"/>
                </a:solidFill>
              </a:rPr>
            </a:br>
            <a:endParaRPr lang="en-US" sz="8000" b="1" noProof="0" dirty="0"/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2"/>
          </p:nvPr>
        </p:nvSpPr>
        <p:spPr>
          <a:xfrm>
            <a:off x="520196" y="296852"/>
            <a:ext cx="2774621" cy="2187105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pPr lvl="0"/>
            <a:r>
              <a:rPr lang="en-US" noProof="0" dirty="0">
                <a:solidFill>
                  <a:schemeClr val="tx1"/>
                </a:solidFill>
              </a:rPr>
              <a:t>01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451442-18AB-1598-D9A0-EFAA264F6E05}"/>
              </a:ext>
            </a:extLst>
          </p:cNvPr>
          <p:cNvGrpSpPr/>
          <p:nvPr/>
        </p:nvGrpSpPr>
        <p:grpSpPr>
          <a:xfrm rot="10800000">
            <a:off x="8287655" y="1"/>
            <a:ext cx="4209143" cy="1233716"/>
            <a:chOff x="-258098" y="4115513"/>
            <a:chExt cx="3691861" cy="1027987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2373D6B-7F7F-55F5-35BF-FFD05A2AC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9D6648B-8CBA-832A-16A1-1770D98E1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8329D6BA-3E4F-1157-4DEF-60C393F6D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0" y="4372173"/>
              <a:ext cx="2521974" cy="771326"/>
            </a:xfrm>
            <a:prstGeom prst="rect">
              <a:avLst/>
            </a:prstGeom>
          </p:spPr>
        </p:pic>
      </p:grpSp>
      <p:pic>
        <p:nvPicPr>
          <p:cNvPr id="4" name="Picture 3" descr="A hand holding a phone and a light bulb&#10;&#10;AI-generated content may be incorrect.">
            <a:extLst>
              <a:ext uri="{FF2B5EF4-FFF2-40B4-BE49-F238E27FC236}">
                <a16:creationId xmlns:a16="http://schemas.microsoft.com/office/drawing/2014/main" id="{CD51580B-2793-6779-E545-1DB6842E3E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802" y="2238827"/>
            <a:ext cx="3237027" cy="323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4EDDC3-9913-1B9E-A3F5-889765AC6115}"/>
              </a:ext>
            </a:extLst>
          </p:cNvPr>
          <p:cNvSpPr txBox="1"/>
          <p:nvPr/>
        </p:nvSpPr>
        <p:spPr>
          <a:xfrm>
            <a:off x="-1" y="0"/>
            <a:ext cx="7880153" cy="14465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88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________</a:t>
            </a:r>
            <a:endParaRPr lang="en-US" sz="4267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xfrm>
            <a:off x="246654" y="1618005"/>
            <a:ext cx="11950343" cy="5064607"/>
          </a:xfrm>
          <a:noFill/>
          <a:ln>
            <a:noFill/>
          </a:ln>
        </p:spPr>
        <p:txBody>
          <a:bodyPr spcFirstLastPara="1" vert="horz" wrap="square" lIns="121900" tIns="60933" rIns="121900" bIns="60933" numCol="2" rtlCol="0" anchor="t" anchorCtr="0">
            <a:noAutofit/>
          </a:bodyPr>
          <a:lstStyle/>
          <a:p>
            <a:pPr>
              <a:spcAft>
                <a:spcPts val="1067"/>
              </a:spcAft>
            </a:pPr>
            <a:r>
              <a:rPr lang="en-US" sz="2400" b="1" kern="100" dirty="0">
                <a:latin typeface="Aptos" panose="020B0004020202020204" pitchFamily="34" charset="0"/>
                <a:ea typeface="Calibri" panose="020F0502020204030204" pitchFamily="34" charset="0"/>
                <a:cs typeface="Sora SemiBold" panose="020B0604020202020204" charset="0"/>
              </a:rPr>
              <a:t>The Administrative Capital for Urban Development (ACUD) </a:t>
            </a:r>
            <a:r>
              <a:rPr lang="en-US" sz="2400" kern="100" dirty="0">
                <a:latin typeface="Aptos" panose="020B0004020202020204" pitchFamily="34" charset="0"/>
                <a:ea typeface="Calibri" panose="020F0502020204030204" pitchFamily="34" charset="0"/>
                <a:cs typeface="Sora SemiBold" panose="020B0604020202020204" charset="0"/>
              </a:rPr>
              <a:t>is the master developer of Egypt’s New Administrative Capital (NAC). Established to design, build, and manage a world-class </a:t>
            </a:r>
            <a:r>
              <a:rPr lang="en-US" sz="2400" b="1" kern="100" dirty="0"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Sora SemiBold" panose="020B0604020202020204" charset="0"/>
              </a:rPr>
              <a:t>smart city</a:t>
            </a:r>
            <a:r>
              <a:rPr lang="en-US" sz="2400" kern="100" dirty="0">
                <a:latin typeface="Aptos" panose="020B0004020202020204" pitchFamily="34" charset="0"/>
                <a:ea typeface="Calibri" panose="020F0502020204030204" pitchFamily="34" charset="0"/>
                <a:cs typeface="Sora SemiBold" panose="020B0604020202020204" charset="0"/>
              </a:rPr>
              <a:t>. Oversees infrastructure, digital transformation, and sustainable city solutions.</a:t>
            </a:r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28576" y="511087"/>
            <a:ext cx="4408513" cy="595831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sz="4400" dirty="0">
                <a:solidFill>
                  <a:schemeClr val="bg2"/>
                </a:solidFill>
                <a:latin typeface="Aptos" panose="020B0004020202020204" pitchFamily="34" charset="0"/>
              </a:rPr>
              <a:t>Introduction:-</a:t>
            </a:r>
            <a:br>
              <a:rPr lang="en-US" sz="4400" noProof="0" dirty="0">
                <a:solidFill>
                  <a:schemeClr val="bg2"/>
                </a:solidFill>
                <a:latin typeface="Aptos" panose="020B0004020202020204" pitchFamily="34" charset="0"/>
              </a:rPr>
            </a:br>
            <a:endParaRPr lang="en-US" sz="4400" noProof="0" dirty="0">
              <a:solidFill>
                <a:schemeClr val="bg2"/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40C21A-4779-127A-1E45-D817EC656C3C}"/>
              </a:ext>
            </a:extLst>
          </p:cNvPr>
          <p:cNvSpPr txBox="1"/>
          <p:nvPr/>
        </p:nvSpPr>
        <p:spPr>
          <a:xfrm>
            <a:off x="7149535" y="4796628"/>
            <a:ext cx="4230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kern="100" dirty="0">
                <a:latin typeface="Aptos" panose="020B0004020202020204" pitchFamily="34" charset="0"/>
                <a:ea typeface="Calibri" panose="020F0502020204030204" pitchFamily="34" charset="0"/>
                <a:sym typeface="Arial"/>
              </a:rPr>
              <a:t>Fig(1) AC</a:t>
            </a:r>
          </a:p>
        </p:txBody>
      </p:sp>
      <p:pic>
        <p:nvPicPr>
          <p:cNvPr id="2052" name="Picture 4" descr="ACUD in talks with Korean companies on developing Administrative Capital's  CBD - Dailynewsegypt">
            <a:extLst>
              <a:ext uri="{FF2B5EF4-FFF2-40B4-BE49-F238E27FC236}">
                <a16:creationId xmlns:a16="http://schemas.microsoft.com/office/drawing/2014/main" id="{EF2AB3A0-AC9F-0F34-BA55-87CC2C60A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896" y="1618005"/>
            <a:ext cx="4973688" cy="300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4EDDC3-9913-1B9E-A3F5-889765AC6115}"/>
              </a:ext>
            </a:extLst>
          </p:cNvPr>
          <p:cNvSpPr txBox="1"/>
          <p:nvPr/>
        </p:nvSpPr>
        <p:spPr>
          <a:xfrm>
            <a:off x="0" y="1078"/>
            <a:ext cx="7666828" cy="14465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88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________</a:t>
            </a:r>
            <a:endParaRPr lang="en-US" sz="4267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xfrm>
            <a:off x="130707" y="1546750"/>
            <a:ext cx="14169909" cy="5558588"/>
          </a:xfrm>
          <a:noFill/>
          <a:ln>
            <a:noFill/>
          </a:ln>
        </p:spPr>
        <p:txBody>
          <a:bodyPr spcFirstLastPara="1" vert="horz" wrap="square" lIns="121900" tIns="60933" rIns="121900" bIns="60933" numCol="2" rtlCol="0" anchor="t" anchorCtr="0">
            <a:noAutofit/>
          </a:bodyPr>
          <a:lstStyle/>
          <a:p>
            <a:pPr>
              <a:spcAft>
                <a:spcPts val="1067"/>
              </a:spcAft>
            </a:pPr>
            <a:r>
              <a:rPr lang="en-US" sz="2400" dirty="0">
                <a:latin typeface="Aptos" panose="020B0004020202020204" pitchFamily="34" charset="0"/>
              </a:rPr>
              <a:t>ACUD Mission</a:t>
            </a:r>
          </a:p>
          <a:p>
            <a:pPr marL="342900" indent="-342900"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Build a sustainable, technology-driven capital</a:t>
            </a:r>
          </a:p>
          <a:p>
            <a:pPr marL="342900" indent="-342900"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Provide smart infrastructure for </a:t>
            </a: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energy</a:t>
            </a:r>
            <a:r>
              <a:rPr lang="en-US" sz="2400" dirty="0">
                <a:latin typeface="Aptos" panose="020B0004020202020204" pitchFamily="34" charset="0"/>
              </a:rPr>
              <a:t>, water, transport, and communication</a:t>
            </a:r>
          </a:p>
          <a:p>
            <a:pPr marL="342900" indent="-342900"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Position Egypt as a regional leader in smart cities</a:t>
            </a:r>
          </a:p>
          <a:p>
            <a:pPr marL="342900" indent="-342900">
              <a:spcAft>
                <a:spcPts val="1067"/>
              </a:spcAft>
              <a:buFont typeface="Arial" panose="020B0604020202020204" pitchFamily="34" charset="0"/>
              <a:buChar char="•"/>
            </a:pPr>
            <a:endParaRPr lang="en-US" sz="2400" noProof="0" dirty="0">
              <a:latin typeface="Aptos" panose="020B0004020202020204" pitchFamily="34" charset="0"/>
              <a:cs typeface="Sora SemiBold" panose="020B0604020202020204" charset="0"/>
            </a:endParaRPr>
          </a:p>
          <a:p>
            <a:pPr>
              <a:spcAft>
                <a:spcPts val="1067"/>
              </a:spcAft>
            </a:pPr>
            <a:r>
              <a:rPr lang="en-US" sz="2400" dirty="0">
                <a:latin typeface="Aptos" panose="020B0004020202020204" pitchFamily="34" charset="0"/>
                <a:cs typeface="Sora SemiBold" panose="020B0604020202020204" charset="0"/>
              </a:rPr>
              <a:t>ACUD Vision</a:t>
            </a:r>
          </a:p>
          <a:p>
            <a:pPr marL="342900" indent="-342900"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  <a:cs typeface="Sora SemiBold" panose="020B0604020202020204" charset="0"/>
              </a:rPr>
              <a:t>A fully digital, green, and connected city</a:t>
            </a:r>
          </a:p>
          <a:p>
            <a:pPr marL="342900" indent="-342900"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  <a:cs typeface="Sora SemiBold" panose="020B0604020202020204" charset="0"/>
              </a:rPr>
              <a:t>Improve quality of life through IoT, </a:t>
            </a: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  <a:cs typeface="Sora SemiBold" panose="020B0604020202020204" charset="0"/>
              </a:rPr>
              <a:t>AI</a:t>
            </a:r>
            <a:r>
              <a:rPr lang="en-US" sz="2400" dirty="0">
                <a:latin typeface="Aptos" panose="020B0004020202020204" pitchFamily="34" charset="0"/>
                <a:cs typeface="Sora SemiBold" panose="020B0604020202020204" charset="0"/>
              </a:rPr>
              <a:t>, and big data</a:t>
            </a:r>
          </a:p>
          <a:p>
            <a:pPr marL="342900" indent="-342900"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  <a:cs typeface="Sora SemiBold" panose="020B0604020202020204" charset="0"/>
              </a:rPr>
              <a:t>Create an international model of smart urban development</a:t>
            </a:r>
            <a:endParaRPr lang="en-US" sz="2400" noProof="0" dirty="0">
              <a:latin typeface="Aptos" panose="020B0004020202020204" pitchFamily="34" charset="0"/>
              <a:cs typeface="Sora SemiBold" panose="020B0604020202020204" charset="0"/>
            </a:endParaRPr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0" y="532934"/>
            <a:ext cx="10261600" cy="595831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sz="4400" dirty="0">
                <a:solidFill>
                  <a:schemeClr val="bg2"/>
                </a:solidFill>
                <a:latin typeface="Aptos" panose="020B0004020202020204" pitchFamily="34" charset="0"/>
              </a:rPr>
              <a:t>Background information:-</a:t>
            </a:r>
            <a:br>
              <a:rPr lang="en-US" sz="4400" noProof="0" dirty="0">
                <a:solidFill>
                  <a:schemeClr val="bg2"/>
                </a:solidFill>
                <a:latin typeface="Aptos" panose="020B0004020202020204" pitchFamily="34" charset="0"/>
              </a:rPr>
            </a:br>
            <a:endParaRPr lang="en-US" sz="4400" noProof="0" dirty="0">
              <a:solidFill>
                <a:schemeClr val="bg2"/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F4343E-B6B8-5C0E-6CE1-7D37F5D6A073}"/>
              </a:ext>
            </a:extLst>
          </p:cNvPr>
          <p:cNvGrpSpPr/>
          <p:nvPr/>
        </p:nvGrpSpPr>
        <p:grpSpPr>
          <a:xfrm>
            <a:off x="9106883" y="5767569"/>
            <a:ext cx="4305028" cy="1174628"/>
            <a:chOff x="6830162" y="4325676"/>
            <a:chExt cx="3228771" cy="880971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75A19C9E-1AFD-F2B9-E1B4-27AB330AD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0162" y="4325676"/>
              <a:ext cx="2724237" cy="815572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CC7D8B3-3344-984F-DEB2-452F1CDEE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8724EE9-566D-6F52-59DC-56D72F010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6DE7AFC-956D-1E11-8067-17856275DAB3}"/>
              </a:ext>
            </a:extLst>
          </p:cNvPr>
          <p:cNvSpPr txBox="1"/>
          <p:nvPr/>
        </p:nvSpPr>
        <p:spPr>
          <a:xfrm>
            <a:off x="7345214" y="4494380"/>
            <a:ext cx="4716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000" kern="0" dirty="0">
                <a:solidFill>
                  <a:srgbClr val="000000"/>
                </a:solidFill>
                <a:latin typeface="Aptos" panose="020B0004020202020204" pitchFamily="34" charset="0"/>
                <a:cs typeface="Sora SemiBold" panose="020B0604020202020204" charset="0"/>
                <a:sym typeface="Arial"/>
              </a:rPr>
              <a:t>Fig (2), UD</a:t>
            </a:r>
            <a:endParaRPr lang="en-US" sz="2000" kern="100" dirty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Sora SemiBold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2000" kern="0" dirty="0">
              <a:solidFill>
                <a:srgbClr val="000000"/>
              </a:solidFill>
              <a:latin typeface="Aptos" panose="020B0004020202020204" pitchFamily="34" charset="0"/>
              <a:cs typeface="Sora SemiBold" panose="020B0604020202020204" charset="0"/>
              <a:sym typeface="Arial"/>
            </a:endParaRPr>
          </a:p>
        </p:txBody>
      </p:sp>
      <p:pic>
        <p:nvPicPr>
          <p:cNvPr id="3074" name="Picture 2" descr="Egypt's ACUD signs agreement with JOBMASTER for restructuring ahead of IPO  - Markets &amp; Companies - Business - Ahram Online">
            <a:extLst>
              <a:ext uri="{FF2B5EF4-FFF2-40B4-BE49-F238E27FC236}">
                <a16:creationId xmlns:a16="http://schemas.microsoft.com/office/drawing/2014/main" id="{ED492D66-36D5-9CFF-352B-DD56EB5F7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918" y="1720168"/>
            <a:ext cx="3969652" cy="264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282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body" idx="1"/>
          </p:nvPr>
        </p:nvSpPr>
        <p:spPr>
          <a:xfrm>
            <a:off x="280035" y="1201168"/>
            <a:ext cx="8744044" cy="5710275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>
              <a:buFontTx/>
              <a:buChar char="-"/>
            </a:pP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Lighting consumes 20–40% of city electricity</a:t>
            </a:r>
          </a:p>
          <a:p>
            <a:pPr marL="342900" indent="-342900">
              <a:buFontTx/>
              <a:buChar char="-"/>
            </a:pP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Smart lighting reduces energy use, adapts to weather &amp; occupancy, and cuts CO₂ emissions</a:t>
            </a:r>
          </a:p>
          <a:p>
            <a:pPr marL="342900" indent="-342900">
              <a:buFontTx/>
              <a:buChar char="-"/>
            </a:pP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Growing electricity demand in cities</a:t>
            </a:r>
          </a:p>
          <a:p>
            <a:pPr marL="342900" indent="-342900">
              <a:buFontTx/>
              <a:buChar char="-"/>
            </a:pP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Need for energy-efficient solutions</a:t>
            </a:r>
          </a:p>
          <a:p>
            <a:pPr marL="342900" indent="-342900">
              <a:buFontTx/>
              <a:buChar char="-"/>
            </a:pP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Lighting system is a key entry point for smart infrastructure</a:t>
            </a:r>
          </a:p>
          <a:p>
            <a:pPr marL="342900" indent="-342900">
              <a:buFontTx/>
              <a:buChar char="-"/>
            </a:pPr>
            <a:endParaRPr lang="en-US" sz="2400" kern="100" dirty="0">
              <a:latin typeface="Aptos" panose="020B0004020202020204" pitchFamily="34" charset="0"/>
              <a:cs typeface="Sora SemiBold" panose="020B0604020202020204" charset="0"/>
            </a:endParaRPr>
          </a:p>
          <a:p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Use IoT data to predict energy consumption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100" dirty="0">
              <a:latin typeface="Aptos" panose="020B0004020202020204" pitchFamily="34" charset="0"/>
              <a:cs typeface="Sora Semi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Classify weather conditions that impact lighting demand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kern="100" dirty="0">
                <a:solidFill>
                  <a:schemeClr val="bg1"/>
                </a:solidFill>
                <a:latin typeface="Aptos" panose="020B0004020202020204" pitchFamily="34" charset="0"/>
                <a:cs typeface="Sora SemiBold" panose="020B0604020202020204" charset="0"/>
              </a:rPr>
              <a:t>Develop a machine learning model for energy</a:t>
            </a: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Support ACUD’s sustainability mission</a:t>
            </a:r>
          </a:p>
          <a:p>
            <a:pPr marL="342900" indent="-342900">
              <a:buFontTx/>
              <a:buChar char="-"/>
            </a:pPr>
            <a:endParaRPr lang="en-US" sz="2400" kern="100" dirty="0">
              <a:latin typeface="Aptos" panose="020B0004020202020204" pitchFamily="34" charset="0"/>
              <a:cs typeface="Sora SemiBold" panose="020B0604020202020204" charset="0"/>
            </a:endParaRPr>
          </a:p>
          <a:p>
            <a:pPr marL="342900" indent="-342900">
              <a:buFontTx/>
              <a:buChar char="-"/>
            </a:pPr>
            <a:endParaRPr lang="en-US" sz="2400" kern="100" dirty="0">
              <a:latin typeface="Aptos" panose="020B0004020202020204" pitchFamily="34" charset="0"/>
              <a:cs typeface="Sora SemiBold" panose="020B0604020202020204" charset="0"/>
            </a:endParaRPr>
          </a:p>
          <a:p>
            <a:pPr marL="342900" indent="-342900">
              <a:buFontTx/>
              <a:buChar char="-"/>
            </a:pPr>
            <a:endParaRPr lang="en-US" sz="2400" kern="100" dirty="0">
              <a:latin typeface="Aptos" panose="020B0004020202020204" pitchFamily="34" charset="0"/>
              <a:cs typeface="Sora SemiBold" panose="020B0604020202020204" charset="0"/>
            </a:endParaRPr>
          </a:p>
        </p:txBody>
      </p:sp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280035" y="362688"/>
            <a:ext cx="6628765" cy="785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r>
              <a:rPr lang="en-US" sz="480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Objective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4EB3F8-CC3F-85A9-54FC-8D7671DA312A}"/>
              </a:ext>
            </a:extLst>
          </p:cNvPr>
          <p:cNvGrpSpPr/>
          <p:nvPr/>
        </p:nvGrpSpPr>
        <p:grpSpPr>
          <a:xfrm rot="11251232" flipH="1">
            <a:off x="9480946" y="-230691"/>
            <a:ext cx="3882247" cy="1059272"/>
            <a:chOff x="6830162" y="4325676"/>
            <a:chExt cx="3228771" cy="880971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6304393D-CD88-8A9B-FA3B-12952A5E9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0162" y="4325676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CCFB592-0F26-1B07-494E-4CBF320DE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6DB0C0D-D559-FFDE-2AE4-FD6E7B21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2" name="Google Shape;56;p13">
            <a:extLst>
              <a:ext uri="{FF2B5EF4-FFF2-40B4-BE49-F238E27FC236}">
                <a16:creationId xmlns:a16="http://schemas.microsoft.com/office/drawing/2014/main" id="{21CE8E3A-7021-DF62-B6C1-7663EFD84226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F7BCC7-3A70-72AD-6C49-4D93F1412512}"/>
              </a:ext>
            </a:extLst>
          </p:cNvPr>
          <p:cNvSpPr txBox="1"/>
          <p:nvPr/>
        </p:nvSpPr>
        <p:spPr>
          <a:xfrm>
            <a:off x="7840989" y="4522496"/>
            <a:ext cx="4716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000" kern="0" dirty="0">
                <a:solidFill>
                  <a:srgbClr val="000000"/>
                </a:solidFill>
                <a:latin typeface="Aptos" panose="020B0004020202020204" pitchFamily="34" charset="0"/>
                <a:cs typeface="Sora SemiBold" panose="020B0604020202020204" charset="0"/>
                <a:sym typeface="Arial"/>
              </a:rPr>
              <a:t>Fig (3), Our project</a:t>
            </a:r>
            <a:endParaRPr lang="en-US" sz="2000" kern="100" dirty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Sora SemiBold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2000" kern="0" dirty="0">
              <a:solidFill>
                <a:srgbClr val="000000"/>
              </a:solidFill>
              <a:latin typeface="Aptos" panose="020B0004020202020204" pitchFamily="34" charset="0"/>
              <a:cs typeface="Sora SemiBold" panose="020B0604020202020204" charset="0"/>
              <a:sym typeface="Arial"/>
            </a:endParaRPr>
          </a:p>
        </p:txBody>
      </p:sp>
      <p:pic>
        <p:nvPicPr>
          <p:cNvPr id="4100" name="Picture 4" descr="Machine Learning – Prutor Online Academy | The Way IIT's Learn to Code">
            <a:extLst>
              <a:ext uri="{FF2B5EF4-FFF2-40B4-BE49-F238E27FC236}">
                <a16:creationId xmlns:a16="http://schemas.microsoft.com/office/drawing/2014/main" id="{D4BC9E6D-1AA9-D9BC-65B7-99CA1DE5C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094" y="1708879"/>
            <a:ext cx="3425871" cy="254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241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1F322BFC-282D-2A6A-988D-9C2D2A55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>
            <a:extLst>
              <a:ext uri="{FF2B5EF4-FFF2-40B4-BE49-F238E27FC236}">
                <a16:creationId xmlns:a16="http://schemas.microsoft.com/office/drawing/2014/main" id="{269132C2-E645-202D-BD02-3C02D42C4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7055" y="1770160"/>
            <a:ext cx="7688914" cy="5034164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r>
              <a:rPr lang="en-US" sz="2400" kern="100" dirty="0">
                <a:solidFill>
                  <a:schemeClr val="bg1"/>
                </a:solidFill>
                <a:latin typeface="Aptos" panose="020B0004020202020204" pitchFamily="34" charset="0"/>
                <a:cs typeface="Sora SemiBold" panose="020B0604020202020204" charset="0"/>
              </a:rPr>
              <a:t>Regression Target:</a:t>
            </a:r>
          </a:p>
          <a:p>
            <a:r>
              <a:rPr lang="en-US" sz="2400" kern="100" dirty="0" err="1">
                <a:latin typeface="Aptos" panose="020B0004020202020204" pitchFamily="34" charset="0"/>
                <a:cs typeface="Sora SemiBold" panose="020B0604020202020204" charset="0"/>
              </a:rPr>
              <a:t>energy_consumption_kwh</a:t>
            </a: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 → Predict energy usage (continuous).</a:t>
            </a:r>
          </a:p>
          <a:p>
            <a:endParaRPr lang="en-US" sz="2400" kern="100" dirty="0">
              <a:latin typeface="Aptos" panose="020B0004020202020204" pitchFamily="34" charset="0"/>
              <a:cs typeface="Sora SemiBold" panose="020B0604020202020204" charset="0"/>
            </a:endParaRPr>
          </a:p>
          <a:p>
            <a:r>
              <a:rPr lang="en-US" sz="2400" kern="100" dirty="0">
                <a:solidFill>
                  <a:schemeClr val="bg1"/>
                </a:solidFill>
                <a:latin typeface="Aptos" panose="020B0004020202020204" pitchFamily="34" charset="0"/>
                <a:cs typeface="Sora SemiBold" panose="020B0604020202020204" charset="0"/>
              </a:rPr>
              <a:t>Classification Target:</a:t>
            </a:r>
          </a:p>
          <a:p>
            <a:r>
              <a:rPr lang="en-US" sz="2400" kern="100" dirty="0" err="1">
                <a:latin typeface="Aptos" panose="020B0004020202020204" pitchFamily="34" charset="0"/>
                <a:cs typeface="Sora SemiBold" panose="020B0604020202020204" charset="0"/>
              </a:rPr>
              <a:t>lighting_action_class</a:t>
            </a:r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 → Predict lighting action (discrete classes like dim, brighten, keep constant).</a:t>
            </a:r>
          </a:p>
          <a:p>
            <a:endParaRPr lang="en-US" sz="2400" kern="100" dirty="0">
              <a:latin typeface="Aptos" panose="020B0004020202020204" pitchFamily="34" charset="0"/>
              <a:cs typeface="Sora SemiBold" panose="020B0604020202020204" charset="0"/>
            </a:endParaRPr>
          </a:p>
          <a:p>
            <a:r>
              <a:rPr lang="en-US" sz="2400" kern="100" dirty="0">
                <a:latin typeface="Aptos" panose="020B0004020202020204" pitchFamily="34" charset="0"/>
                <a:cs typeface="Sora SemiBold" panose="020B0604020202020204" charset="0"/>
              </a:rPr>
              <a:t>It explores the integration of IoT, sensors, AI, and automation</a:t>
            </a:r>
          </a:p>
          <a:p>
            <a:endParaRPr lang="en-US" sz="2400" kern="100" dirty="0">
              <a:latin typeface="Aptos" panose="020B0004020202020204" pitchFamily="34" charset="0"/>
              <a:cs typeface="Sora SemiBold" panose="020B0604020202020204" charset="0"/>
            </a:endParaRPr>
          </a:p>
        </p:txBody>
      </p:sp>
      <p:sp>
        <p:nvSpPr>
          <p:cNvPr id="125" name="Google Shape;125;p6">
            <a:extLst>
              <a:ext uri="{FF2B5EF4-FFF2-40B4-BE49-F238E27FC236}">
                <a16:creationId xmlns:a16="http://schemas.microsoft.com/office/drawing/2014/main" id="{3C884424-9F43-5238-6A47-8AF93C7F67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035" y="362688"/>
            <a:ext cx="6628765" cy="785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r>
              <a:rPr lang="en-US" sz="480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Idea of the project</a:t>
            </a:r>
          </a:p>
        </p:txBody>
      </p:sp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6371879B-993B-8BC3-FB3C-1994A63DCCA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40598" y="1197288"/>
            <a:ext cx="4429853" cy="523309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Project Idea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5D5B-5592-B3F7-3599-5DD710A92ED3}"/>
              </a:ext>
            </a:extLst>
          </p:cNvPr>
          <p:cNvGrpSpPr/>
          <p:nvPr/>
        </p:nvGrpSpPr>
        <p:grpSpPr>
          <a:xfrm rot="11251232" flipH="1">
            <a:off x="9435975" y="-275661"/>
            <a:ext cx="3882247" cy="1059272"/>
            <a:chOff x="6830162" y="4325676"/>
            <a:chExt cx="3228771" cy="880971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F2EA00CC-EB5B-65C2-4013-CD0A46330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0162" y="4325676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4670D1FA-4A92-0E69-7FB7-07D55F222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3841F9A-CA00-816C-3E9A-9BFF0AD37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2" name="Google Shape;56;p13">
            <a:extLst>
              <a:ext uri="{FF2B5EF4-FFF2-40B4-BE49-F238E27FC236}">
                <a16:creationId xmlns:a16="http://schemas.microsoft.com/office/drawing/2014/main" id="{DD191499-97F8-51D5-D17C-294C0E0ACB3D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848C266-8D60-54FF-E163-B5DCE7723D5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6563" y="1576149"/>
            <a:ext cx="3938357" cy="39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90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53FF05B1-D064-F0FC-B395-955054B5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AD184871-0CC3-DA5B-1E37-17843D188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67085" y="3109624"/>
            <a:ext cx="7024915" cy="135217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7200" b="1" dirty="0">
                <a:solidFill>
                  <a:schemeClr val="tx1"/>
                </a:solidFill>
              </a:rPr>
              <a:t>System Overview</a:t>
            </a:r>
            <a:endParaRPr lang="en-US" sz="7200" b="1" noProof="0"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0DE9730-845E-05E0-A9D7-31B1F210867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0196" y="296852"/>
            <a:ext cx="2774621" cy="2187105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pPr lvl="0"/>
            <a:r>
              <a:rPr lang="en-US" noProof="0" dirty="0">
                <a:solidFill>
                  <a:schemeClr val="tx1"/>
                </a:solidFill>
              </a:rPr>
              <a:t>02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5DE9E9-AEF4-BAEA-7010-BDDB2E5992A6}"/>
              </a:ext>
            </a:extLst>
          </p:cNvPr>
          <p:cNvGrpSpPr/>
          <p:nvPr/>
        </p:nvGrpSpPr>
        <p:grpSpPr>
          <a:xfrm rot="10800000">
            <a:off x="8287655" y="1"/>
            <a:ext cx="4209143" cy="1233716"/>
            <a:chOff x="-258098" y="4115513"/>
            <a:chExt cx="3691861" cy="1027987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F45E2A2-ABA9-B0F2-D4F5-E4EAE327F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ED8118C-F7F8-6ED2-7A9E-8A53C55F5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9F5D98F-A8B3-302F-7130-E44B52C2E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0" y="4372173"/>
              <a:ext cx="2521974" cy="771326"/>
            </a:xfrm>
            <a:prstGeom prst="rect">
              <a:avLst/>
            </a:prstGeom>
          </p:spPr>
        </p:pic>
      </p:grpSp>
      <p:pic>
        <p:nvPicPr>
          <p:cNvPr id="4" name="Picture 3" descr="A green and yellow gear with a lightning bolt&#10;&#10;AI-generated content may be incorrect.">
            <a:extLst>
              <a:ext uri="{FF2B5EF4-FFF2-40B4-BE49-F238E27FC236}">
                <a16:creationId xmlns:a16="http://schemas.microsoft.com/office/drawing/2014/main" id="{EADE01A0-F0D2-5891-6EFB-DE7336F49B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098" y="2455993"/>
            <a:ext cx="2659438" cy="265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6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24B99CE5-F6B5-45BB-1C43-8E0EA4D4E959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8718B7-14E1-0BBC-6C0A-D8532CF11CC0}"/>
              </a:ext>
            </a:extLst>
          </p:cNvPr>
          <p:cNvSpPr txBox="1"/>
          <p:nvPr/>
        </p:nvSpPr>
        <p:spPr>
          <a:xfrm>
            <a:off x="482379" y="1038332"/>
            <a:ext cx="1145207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dataset contains data representing an IoT-enabled Smart Lighting System for urban environments for fault detection.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captures sensor readings, environmental conditions, and lighting control decisions over the course of one year (2024) across multiple city zones.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timestamp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zone_id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ambient_light_lux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motion_detected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temperature_celsius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occupancy_count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day_of_week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time_of_day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weather_condition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special_event_flag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71038" y="167904"/>
            <a:ext cx="4710325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 Collection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6B3A6D-5B4C-19C5-D3D7-1E7BC8639579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047232A-CEF8-4020-3C49-5314F8198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61B194DA-ADC0-3E81-6359-B102CCD33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2C8A1E99-D6B4-97D7-5DEA-B138669ED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B457C5B-9300-5E52-EA3D-E24C42515630}"/>
              </a:ext>
            </a:extLst>
          </p:cNvPr>
          <p:cNvSpPr txBox="1"/>
          <p:nvPr/>
        </p:nvSpPr>
        <p:spPr>
          <a:xfrm>
            <a:off x="3775363" y="2362536"/>
            <a:ext cx="68897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energy_price_per_kwh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prev_hour_energy_usage_kwh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traffic_density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avg_pedestrian_speed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adjusted_light_intensity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energy_consumption_kwh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lighting_action_class</a:t>
            </a:r>
            <a:r>
              <a:rPr lang="en-US" dirty="0"/>
              <a:t> </a:t>
            </a:r>
          </a:p>
        </p:txBody>
      </p:sp>
      <p:pic>
        <p:nvPicPr>
          <p:cNvPr id="5122" name="Picture 2" descr="مايكروسوفت إكسل - ويكيبيديا">
            <a:extLst>
              <a:ext uri="{FF2B5EF4-FFF2-40B4-BE49-F238E27FC236}">
                <a16:creationId xmlns:a16="http://schemas.microsoft.com/office/drawing/2014/main" id="{FB31EC7C-5E10-65C4-D0A0-189577E3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138" y="2395536"/>
            <a:ext cx="22193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78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D25C3128-EA3E-5550-BFF7-C7EB65DB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E9799BAB-61CB-E9B2-CB48-9266B007D0BF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3888C1-F789-4BC0-C06E-DBA5ECD36EF3}"/>
              </a:ext>
            </a:extLst>
          </p:cNvPr>
          <p:cNvSpPr txBox="1"/>
          <p:nvPr/>
        </p:nvSpPr>
        <p:spPr>
          <a:xfrm>
            <a:off x="565543" y="890951"/>
            <a:ext cx="116264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Exploratory Data Analysis (EDA)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Purpose</a:t>
            </a:r>
            <a:r>
              <a:rPr lang="en-US" sz="2000" dirty="0">
                <a:latin typeface="Aptos" panose="020B0004020202020204" pitchFamily="34" charset="0"/>
              </a:rPr>
              <a:t>: Understand the dataset’s characteristics, distributions, and relationships to inform preprocessing and modeling.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Process</a:t>
            </a:r>
            <a:r>
              <a:rPr lang="en-US" sz="2000" dirty="0">
                <a:latin typeface="Aptos" panose="020B0004020202020204" pitchFamily="34" charset="0"/>
              </a:rPr>
              <a:t>: </a:t>
            </a: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Shape Analysis</a:t>
            </a:r>
            <a:r>
              <a:rPr lang="en-US" sz="2000" dirty="0">
                <a:latin typeface="Aptos" panose="020B0004020202020204" pitchFamily="34" charset="0"/>
              </a:rPr>
              <a:t>: Check the dataset’s dimensions to confirm the number of rows and columns, ensuring sufficient data for modeling.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Data Types and Structure</a:t>
            </a:r>
            <a:r>
              <a:rPr lang="en-US" sz="2000" dirty="0">
                <a:latin typeface="Aptos" panose="020B0004020202020204" pitchFamily="34" charset="0"/>
              </a:rPr>
              <a:t>: Review column data types (numerical: floats/</a:t>
            </a:r>
            <a:r>
              <a:rPr lang="en-US" sz="2000" dirty="0" err="1">
                <a:latin typeface="Aptos" panose="020B0004020202020204" pitchFamily="34" charset="0"/>
              </a:rPr>
              <a:t>ints</a:t>
            </a:r>
            <a:r>
              <a:rPr lang="en-US" sz="2000" dirty="0">
                <a:latin typeface="Aptos" panose="020B0004020202020204" pitchFamily="34" charset="0"/>
              </a:rPr>
              <a:t>; categorical: strings) and memory usage to plan preprocessing (e.g., encoding </a:t>
            </a:r>
            <a:r>
              <a:rPr lang="en-US" sz="2000" dirty="0" err="1">
                <a:latin typeface="Aptos" panose="020B0004020202020204" pitchFamily="34" charset="0"/>
              </a:rPr>
              <a:t>categoricals</a:t>
            </a:r>
            <a:r>
              <a:rPr lang="en-US" sz="2000" dirty="0">
                <a:latin typeface="Aptos" panose="020B0004020202020204" pitchFamily="34" charset="0"/>
              </a:rPr>
              <a:t>).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Missing Value Check</a:t>
            </a:r>
            <a:r>
              <a:rPr lang="en-US" sz="2000" dirty="0">
                <a:latin typeface="Aptos" panose="020B0004020202020204" pitchFamily="34" charset="0"/>
              </a:rPr>
              <a:t>: Verify if any data is missing to assess data quality and determine if imputation or removal is needed (none found here).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Summary Statistics</a:t>
            </a:r>
            <a:r>
              <a:rPr lang="en-US" sz="2000" dirty="0">
                <a:latin typeface="Aptos" panose="020B0004020202020204" pitchFamily="34" charset="0"/>
              </a:rPr>
              <a:t>: Compute descriptive statistics (mean, standard deviation, min, max, quartiles) for numerical features to understand distributions, detect outliers, and identify scaling needs.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Group-Based Analysis</a:t>
            </a:r>
            <a:r>
              <a:rPr lang="en-US" sz="2000" dirty="0">
                <a:latin typeface="Aptos" panose="020B0004020202020204" pitchFamily="34" charset="0"/>
              </a:rPr>
              <a:t>: Aggregate data by categorical variables (e.g., time of day) to compute average energy consumption, revealing patterns like higher usage at night.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81FEB2-0EE9-FD92-979B-E0BD8F25B9BE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42A94918-8B7F-D1D9-E5DD-D457B58B3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014B2B7-FE5B-D68E-83FD-51213D955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7875ED1-A74E-81F5-8BD2-B33B79C6D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1" name="Google Shape;132;p7">
            <a:extLst>
              <a:ext uri="{FF2B5EF4-FFF2-40B4-BE49-F238E27FC236}">
                <a16:creationId xmlns:a16="http://schemas.microsoft.com/office/drawing/2014/main" id="{7549AD4A-F577-E436-3A33-875C66E1C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5542" y="143532"/>
            <a:ext cx="7119172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 algn="l"/>
            <a:r>
              <a:rPr lang="en-US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416297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442AB2F8-0AE1-4649-FFA8-A22A89D7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694E4BBB-6BE4-D57E-FCEF-CEEF6E65E143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DAE306-8C25-E192-C384-C77CD5B9799C}"/>
              </a:ext>
            </a:extLst>
          </p:cNvPr>
          <p:cNvSpPr txBox="1"/>
          <p:nvPr/>
        </p:nvSpPr>
        <p:spPr>
          <a:xfrm>
            <a:off x="588056" y="1046376"/>
            <a:ext cx="1132817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Data Preprocessing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Purpose</a:t>
            </a:r>
            <a:r>
              <a:rPr lang="en-US" sz="2000" dirty="0">
                <a:latin typeface="Aptos" panose="020B0004020202020204" pitchFamily="34" charset="0"/>
              </a:rPr>
              <a:t>: Prepare the data for machine learning by transforming it into a suitable format.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Process</a:t>
            </a:r>
            <a:r>
              <a:rPr lang="en-US" sz="2000" dirty="0">
                <a:latin typeface="Aptos" panose="020B0004020202020204" pitchFamily="34" charset="0"/>
              </a:rPr>
              <a:t> (inferred from imports): 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Categorical Encoding</a:t>
            </a:r>
            <a:r>
              <a:rPr lang="en-US" sz="2000" dirty="0">
                <a:latin typeface="Aptos" panose="020B0004020202020204" pitchFamily="34" charset="0"/>
              </a:rPr>
              <a:t>: Convert categorical variables (e.g., </a:t>
            </a:r>
            <a:r>
              <a:rPr lang="en-US" sz="2000" dirty="0" err="1">
                <a:latin typeface="Aptos" panose="020B0004020202020204" pitchFamily="34" charset="0"/>
              </a:rPr>
              <a:t>day_of_week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US" sz="2000" dirty="0" err="1">
                <a:latin typeface="Aptos" panose="020B0004020202020204" pitchFamily="34" charset="0"/>
              </a:rPr>
              <a:t>weather_condition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US" sz="2000" dirty="0" err="1">
                <a:latin typeface="Aptos" panose="020B0004020202020204" pitchFamily="34" charset="0"/>
              </a:rPr>
              <a:t>time_of_day</a:t>
            </a:r>
            <a:r>
              <a:rPr lang="en-US" sz="2000" dirty="0">
                <a:latin typeface="Aptos" panose="020B0004020202020204" pitchFamily="34" charset="0"/>
              </a:rPr>
              <a:t>) into numerical form using techniques like label encoding to make them compatible with machine learning algorithms.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Feature Scaling</a:t>
            </a:r>
            <a:r>
              <a:rPr lang="en-US" sz="2000" dirty="0">
                <a:latin typeface="Aptos" panose="020B0004020202020204" pitchFamily="34" charset="0"/>
              </a:rPr>
              <a:t>: Standardize numerical features (e.g., </a:t>
            </a:r>
            <a:r>
              <a:rPr lang="en-US" sz="2000" dirty="0" err="1">
                <a:latin typeface="Aptos" panose="020B0004020202020204" pitchFamily="34" charset="0"/>
              </a:rPr>
              <a:t>ambient_light_lux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US" sz="2000" dirty="0" err="1">
                <a:latin typeface="Aptos" panose="020B0004020202020204" pitchFamily="34" charset="0"/>
              </a:rPr>
              <a:t>temperature_celsius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US" sz="2000" dirty="0" err="1">
                <a:latin typeface="Aptos" panose="020B0004020202020204" pitchFamily="34" charset="0"/>
              </a:rPr>
              <a:t>traffic_density</a:t>
            </a:r>
            <a:r>
              <a:rPr lang="en-US" sz="2000" dirty="0">
                <a:latin typeface="Aptos" panose="020B0004020202020204" pitchFamily="34" charset="0"/>
              </a:rPr>
              <a:t>) to have a mean of 0 and standard deviation of 1, ensuring equal weighting in models sensitive to scale.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Feature Selection</a:t>
            </a:r>
            <a:r>
              <a:rPr lang="en-US" sz="2000" dirty="0">
                <a:latin typeface="Aptos" panose="020B0004020202020204" pitchFamily="34" charset="0"/>
              </a:rPr>
              <a:t>: Select relevant features for regression (</a:t>
            </a:r>
            <a:r>
              <a:rPr lang="en-US" sz="2000" dirty="0" err="1">
                <a:latin typeface="Aptos" panose="020B0004020202020204" pitchFamily="34" charset="0"/>
              </a:rPr>
              <a:t>energy_consumption_kwh</a:t>
            </a:r>
            <a:r>
              <a:rPr lang="en-US" sz="2000" dirty="0">
                <a:latin typeface="Aptos" panose="020B0004020202020204" pitchFamily="34" charset="0"/>
              </a:rPr>
              <a:t> as target) and classification (</a:t>
            </a:r>
            <a:r>
              <a:rPr lang="en-US" sz="2000" dirty="0" err="1">
                <a:latin typeface="Aptos" panose="020B0004020202020204" pitchFamily="34" charset="0"/>
              </a:rPr>
              <a:t>lighting_action_class</a:t>
            </a:r>
            <a:r>
              <a:rPr lang="en-US" sz="2000" dirty="0">
                <a:latin typeface="Aptos" panose="020B0004020202020204" pitchFamily="34" charset="0"/>
              </a:rPr>
              <a:t> as target), potentially excluding irrelevant ones like timestamp.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Train-Test Split</a:t>
            </a:r>
            <a:r>
              <a:rPr lang="en-US" sz="2000" dirty="0">
                <a:latin typeface="Aptos" panose="020B0004020202020204" pitchFamily="34" charset="0"/>
              </a:rPr>
              <a:t>: Divide the dataset into training and testing sets (e.g., 80% train, 20% test) to evaluate model performance on unseen data.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12DAA3-436E-4229-34C6-4246EA412B0A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CABBC0E-4CD2-478D-BFD2-2C0EBE4F0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9FE6F68-A385-2557-770B-E11352585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9A5BFF3-F222-2AC8-AA75-6079DF954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1" name="Google Shape;132;p7">
            <a:extLst>
              <a:ext uri="{FF2B5EF4-FFF2-40B4-BE49-F238E27FC236}">
                <a16:creationId xmlns:a16="http://schemas.microsoft.com/office/drawing/2014/main" id="{1D3DBA64-2CD1-E029-2907-E09E7AA2F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515172" y="149821"/>
            <a:ext cx="7119172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Preprocessing Steps</a:t>
            </a:r>
          </a:p>
        </p:txBody>
      </p:sp>
    </p:spTree>
    <p:extLst>
      <p:ext uri="{BB962C8B-B14F-4D97-AF65-F5344CB8AC3E}">
        <p14:creationId xmlns:p14="http://schemas.microsoft.com/office/powerpoint/2010/main" val="6888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8B57C128-27F9-986D-AAB4-C9370C57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5B7F54F5-683F-A33D-D6A5-5CF3A2D9CED4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56F2D1-D036-B1B1-09D5-BD45A5612694}"/>
              </a:ext>
            </a:extLst>
          </p:cNvPr>
          <p:cNvSpPr txBox="1"/>
          <p:nvPr/>
        </p:nvSpPr>
        <p:spPr>
          <a:xfrm>
            <a:off x="512107" y="1022962"/>
            <a:ext cx="112880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1. Handles Complex Relationships</a:t>
            </a:r>
          </a:p>
          <a:p>
            <a:r>
              <a:rPr lang="en-US" sz="2400" dirty="0">
                <a:latin typeface="Aptos" panose="020B0004020202020204" pitchFamily="34" charset="0"/>
              </a:rPr>
              <a:t>Smart lighting and energy consumption are influenced by </a:t>
            </a:r>
            <a:r>
              <a:rPr lang="en-US" sz="2400" b="1" dirty="0">
                <a:latin typeface="Aptos" panose="020B0004020202020204" pitchFamily="34" charset="0"/>
              </a:rPr>
              <a:t>many nonlinear factors</a:t>
            </a:r>
            <a:r>
              <a:rPr lang="en-US" sz="2400" dirty="0">
                <a:latin typeface="Aptos" panose="020B0004020202020204" pitchFamily="34" charset="0"/>
              </a:rPr>
              <a:t> (time, weather, traffic, etc.).</a:t>
            </a:r>
          </a:p>
          <a:p>
            <a:r>
              <a:rPr lang="en-US" sz="2400" dirty="0">
                <a:latin typeface="Aptos" panose="020B0004020202020204" pitchFamily="34" charset="0"/>
              </a:rPr>
              <a:t>Random Forest captures </a:t>
            </a:r>
            <a:r>
              <a:rPr lang="en-US" sz="2400" b="1" dirty="0">
                <a:latin typeface="Aptos" panose="020B0004020202020204" pitchFamily="34" charset="0"/>
              </a:rPr>
              <a:t>nonlinear interactions</a:t>
            </a:r>
            <a:r>
              <a:rPr lang="en-US" sz="2400" dirty="0">
                <a:latin typeface="Aptos" panose="020B0004020202020204" pitchFamily="34" charset="0"/>
              </a:rPr>
              <a:t> between features better than simple models like Linear Regression.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b="1" dirty="0">
                <a:latin typeface="Aptos" panose="020B0004020202020204" pitchFamily="34" charset="0"/>
              </a:rPr>
              <a:t>2. Works Well with Mixed Data</a:t>
            </a:r>
          </a:p>
          <a:p>
            <a:r>
              <a:rPr lang="en-US" sz="2400" dirty="0">
                <a:latin typeface="Aptos" panose="020B0004020202020204" pitchFamily="34" charset="0"/>
              </a:rPr>
              <a:t>Your dataset has </a:t>
            </a:r>
            <a:r>
              <a:rPr lang="en-US" sz="2400" b="1" dirty="0">
                <a:latin typeface="Aptos" panose="020B0004020202020204" pitchFamily="34" charset="0"/>
              </a:rPr>
              <a:t>numerical (temperature, humidity, hour)</a:t>
            </a:r>
            <a:r>
              <a:rPr lang="en-US" sz="2400" dirty="0">
                <a:latin typeface="Aptos" panose="020B0004020202020204" pitchFamily="34" charset="0"/>
              </a:rPr>
              <a:t> and </a:t>
            </a:r>
            <a:r>
              <a:rPr lang="en-US" sz="2400" b="1" dirty="0">
                <a:latin typeface="Aptos" panose="020B0004020202020204" pitchFamily="34" charset="0"/>
              </a:rPr>
              <a:t>categorical (weather condition, </a:t>
            </a:r>
            <a:r>
              <a:rPr lang="en-US" sz="2400" b="1" dirty="0" err="1">
                <a:latin typeface="Aptos" panose="020B0004020202020204" pitchFamily="34" charset="0"/>
              </a:rPr>
              <a:t>day_of_week</a:t>
            </a:r>
            <a:r>
              <a:rPr lang="en-US" sz="2400" b="1" dirty="0">
                <a:latin typeface="Aptos" panose="020B0004020202020204" pitchFamily="34" charset="0"/>
              </a:rPr>
              <a:t>)</a:t>
            </a:r>
            <a:r>
              <a:rPr lang="en-US" sz="2400" dirty="0">
                <a:latin typeface="Aptos" panose="020B0004020202020204" pitchFamily="34" charset="0"/>
              </a:rPr>
              <a:t> features.</a:t>
            </a:r>
          </a:p>
          <a:p>
            <a:r>
              <a:rPr lang="en-US" sz="2400" dirty="0">
                <a:latin typeface="Aptos" panose="020B0004020202020204" pitchFamily="34" charset="0"/>
              </a:rPr>
              <a:t>Random Forest can natively handle this mix after encoding.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b="1" dirty="0">
                <a:latin typeface="Aptos" panose="020B0004020202020204" pitchFamily="34" charset="0"/>
              </a:rPr>
              <a:t>3. Robust Against Overfitting</a:t>
            </a:r>
          </a:p>
          <a:p>
            <a:r>
              <a:rPr lang="en-US" sz="2400" dirty="0">
                <a:latin typeface="Aptos" panose="020B0004020202020204" pitchFamily="34" charset="0"/>
              </a:rPr>
              <a:t>Unlike a single decision tree, Random Forest builds </a:t>
            </a:r>
            <a:r>
              <a:rPr lang="en-US" sz="2400" b="1" dirty="0">
                <a:latin typeface="Aptos" panose="020B0004020202020204" pitchFamily="34" charset="0"/>
              </a:rPr>
              <a:t>many trees</a:t>
            </a:r>
            <a:r>
              <a:rPr lang="en-US" sz="2400" dirty="0">
                <a:latin typeface="Aptos" panose="020B0004020202020204" pitchFamily="34" charset="0"/>
              </a:rPr>
              <a:t> and averages them.</a:t>
            </a:r>
          </a:p>
          <a:p>
            <a:r>
              <a:rPr lang="en-US" sz="2400" dirty="0">
                <a:latin typeface="Aptos" panose="020B0004020202020204" pitchFamily="34" charset="0"/>
              </a:rPr>
              <a:t>This reduces overfitting and gives </a:t>
            </a:r>
            <a:r>
              <a:rPr lang="en-US" sz="2400" b="1" dirty="0">
                <a:latin typeface="Aptos" panose="020B0004020202020204" pitchFamily="34" charset="0"/>
              </a:rPr>
              <a:t>stable, reliable predictions</a:t>
            </a:r>
            <a:r>
              <a:rPr lang="en-US" sz="2400" dirty="0">
                <a:latin typeface="Aptos" panose="020B0004020202020204" pitchFamily="34" charset="0"/>
              </a:rPr>
              <a:t>.</a:t>
            </a:r>
          </a:p>
          <a:p>
            <a:endParaRPr lang="en-US" sz="2400" dirty="0">
              <a:latin typeface="Aptos" panose="020B00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4EC990-9E26-5C36-DF63-DDD976FDF8A5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BF0C7E3-2223-D965-AC53-30963CCD1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5656A070-F933-E212-E067-C3C773A77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6F4629A-1153-2DA7-3FBE-46A55E48E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9" name="Google Shape;132;p7">
            <a:extLst>
              <a:ext uri="{FF2B5EF4-FFF2-40B4-BE49-F238E27FC236}">
                <a16:creationId xmlns:a16="http://schemas.microsoft.com/office/drawing/2014/main" id="{BE8ACC7E-5B3E-8BAB-6E50-658E9919A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44427" y="167904"/>
            <a:ext cx="7131872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Choosing the model</a:t>
            </a:r>
            <a:r>
              <a:rPr lang="en-US" dirty="0"/>
              <a:t>🌳</a:t>
            </a:r>
            <a:r>
              <a:rPr lang="en-US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6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E8C7D3D9-1BFE-27C8-BCBE-7377ABF96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C107FBF9-DF60-D1C3-49FA-E562F1A71AB9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C0E537-7423-85FF-A3E0-9171BEB660C1}"/>
              </a:ext>
            </a:extLst>
          </p:cNvPr>
          <p:cNvSpPr txBox="1"/>
          <p:nvPr/>
        </p:nvSpPr>
        <p:spPr>
          <a:xfrm>
            <a:off x="512107" y="1022962"/>
            <a:ext cx="112880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4. </a:t>
            </a:r>
            <a:r>
              <a:rPr lang="en-US" sz="2400" b="1" dirty="0">
                <a:latin typeface="Aptos" panose="020B0004020202020204" pitchFamily="34" charset="0"/>
              </a:rPr>
              <a:t>Feature Importance</a:t>
            </a:r>
          </a:p>
          <a:p>
            <a:r>
              <a:rPr lang="en-US" sz="2400" dirty="0">
                <a:latin typeface="Aptos" panose="020B0004020202020204" pitchFamily="34" charset="0"/>
              </a:rPr>
              <a:t>It provides </a:t>
            </a:r>
            <a:r>
              <a:rPr lang="en-US" sz="2400" b="1" dirty="0">
                <a:latin typeface="Aptos" panose="020B0004020202020204" pitchFamily="34" charset="0"/>
              </a:rPr>
              <a:t>feature importance scores</a:t>
            </a:r>
            <a:r>
              <a:rPr lang="en-US" sz="2400" dirty="0">
                <a:latin typeface="Aptos" panose="020B0004020202020204" pitchFamily="34" charset="0"/>
              </a:rPr>
              <a:t>, so you can explain: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How much “weather condition” affects energy use.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Whether “adjusted_light_intensity” is the biggest driver.</a:t>
            </a:r>
          </a:p>
          <a:p>
            <a:pPr lvl="1"/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b="1" dirty="0">
                <a:latin typeface="Aptos" panose="020B0004020202020204" pitchFamily="34" charset="0"/>
              </a:rPr>
              <a:t>5. High Accuracy</a:t>
            </a:r>
          </a:p>
          <a:p>
            <a:r>
              <a:rPr lang="en-US" sz="2400" dirty="0">
                <a:latin typeface="Aptos" panose="020B0004020202020204" pitchFamily="34" charset="0"/>
              </a:rPr>
              <a:t>Often outperforms simpler models in practice for </a:t>
            </a:r>
            <a:r>
              <a:rPr lang="en-US" sz="2400" b="1" dirty="0">
                <a:latin typeface="Aptos" panose="020B0004020202020204" pitchFamily="34" charset="0"/>
              </a:rPr>
              <a:t>regression and classification</a:t>
            </a:r>
            <a:r>
              <a:rPr lang="en-US" sz="2400" dirty="0">
                <a:latin typeface="Aptos" panose="020B0004020202020204" pitchFamily="34" charset="0"/>
              </a:rPr>
              <a:t>.</a:t>
            </a:r>
          </a:p>
          <a:p>
            <a:r>
              <a:rPr lang="en-US" sz="2400" dirty="0">
                <a:latin typeface="Aptos" panose="020B0004020202020204" pitchFamily="34" charset="0"/>
              </a:rPr>
              <a:t>Great for real-world IoT applications where accuracy matters more than model simplicity.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b="1" dirty="0">
                <a:latin typeface="Aptos" panose="020B0004020202020204" pitchFamily="34" charset="0"/>
              </a:rPr>
              <a:t>6. Scalability</a:t>
            </a:r>
          </a:p>
          <a:p>
            <a:r>
              <a:rPr lang="en-US" sz="2400" dirty="0">
                <a:latin typeface="Aptos" panose="020B0004020202020204" pitchFamily="34" charset="0"/>
              </a:rPr>
              <a:t>Works well on medium-to-large datasets.</a:t>
            </a:r>
          </a:p>
          <a:p>
            <a:r>
              <a:rPr lang="en-US" sz="2400" dirty="0">
                <a:latin typeface="Aptos" panose="020B0004020202020204" pitchFamily="34" charset="0"/>
              </a:rPr>
              <a:t>Can be parallelized, making it efficient for smart city–scale problems.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85BAAB-FDCD-A212-F0EC-3DF252618BE8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14F4FAB-3ACE-1579-0500-D232EB0FB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22F2CEF0-17B8-5615-C866-9E21D144A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5DEDF8C-860D-50AA-3CB7-767CB74CD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9" name="Google Shape;132;p7">
            <a:extLst>
              <a:ext uri="{FF2B5EF4-FFF2-40B4-BE49-F238E27FC236}">
                <a16:creationId xmlns:a16="http://schemas.microsoft.com/office/drawing/2014/main" id="{AC22D5D3-F9CA-94B2-33EB-2EBDDE606F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29913" y="97706"/>
            <a:ext cx="7131872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Choosing the model </a:t>
            </a:r>
            <a:r>
              <a:rPr lang="en-US" dirty="0"/>
              <a:t>🌳</a:t>
            </a:r>
            <a:r>
              <a:rPr lang="en-US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276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34EBA6D0-407E-16AF-573C-AC65F7B7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43E62581-6A7C-CBF0-9F98-A698D1B0B117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2E974C-541F-FBBF-3581-08D25AC690AA}"/>
              </a:ext>
            </a:extLst>
          </p:cNvPr>
          <p:cNvSpPr txBox="1"/>
          <p:nvPr/>
        </p:nvSpPr>
        <p:spPr>
          <a:xfrm>
            <a:off x="679362" y="1153590"/>
            <a:ext cx="112880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Purpose</a:t>
            </a:r>
            <a:r>
              <a:rPr lang="en-US" sz="2000" dirty="0">
                <a:latin typeface="Aptos" panose="020B0004020202020204" pitchFamily="34" charset="0"/>
              </a:rPr>
              <a:t>: Assess the performance of trained models to ensure they generalize well to new data.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Process</a:t>
            </a:r>
            <a:r>
              <a:rPr lang="en-US" sz="2000" dirty="0">
                <a:latin typeface="Aptos" panose="020B0004020202020204" pitchFamily="34" charset="0"/>
              </a:rPr>
              <a:t> (inferred from imported metrics): 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Regression Evaluation</a:t>
            </a:r>
            <a:r>
              <a:rPr lang="en-US" sz="2000" dirty="0">
                <a:latin typeface="Aptos" panose="020B0004020202020204" pitchFamily="34" charset="0"/>
              </a:rPr>
              <a:t>: Compute metrics like Mean Squared Error (MSE) to measure prediction error and R² Score to assess how well the model explains variance in </a:t>
            </a:r>
            <a:r>
              <a:rPr lang="en-US" sz="2000" b="1" dirty="0" err="1">
                <a:solidFill>
                  <a:schemeClr val="bg1"/>
                </a:solidFill>
                <a:latin typeface="Aptos" panose="020B0004020202020204" pitchFamily="34" charset="0"/>
              </a:rPr>
              <a:t>energy_consumption_kwh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</a:p>
          <a:p>
            <a:pPr lvl="1"/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b="1" dirty="0">
                <a:latin typeface="Aptos" panose="020B0004020202020204" pitchFamily="34" charset="0"/>
              </a:rPr>
              <a:t>Classification Evaluation</a:t>
            </a:r>
            <a:r>
              <a:rPr lang="en-US" sz="2000" dirty="0">
                <a:latin typeface="Aptos" panose="020B0004020202020204" pitchFamily="34" charset="0"/>
              </a:rPr>
              <a:t>: Calculate accuracy (fraction of correct predictions), precision, recall, and F1-score (via classification report) to evaluate </a:t>
            </a:r>
            <a:r>
              <a:rPr lang="en-US" sz="2000" b="1" dirty="0" err="1">
                <a:solidFill>
                  <a:schemeClr val="bg1"/>
                </a:solidFill>
                <a:latin typeface="Aptos" panose="020B0004020202020204" pitchFamily="34" charset="0"/>
              </a:rPr>
              <a:t>lighting_action_class</a:t>
            </a: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000" dirty="0">
                <a:latin typeface="Aptos" panose="020B0004020202020204" pitchFamily="34" charset="0"/>
              </a:rPr>
              <a:t>predictions. Generate a confusion matrix to analyze true positives, true negatives, false positives, and false negatives.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A5CFDD-F4EE-612F-7B07-83F39278F59C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4F18EFFF-E4C3-5AA4-D930-68F82CD48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D6CF4E0-1801-2564-6308-5BB217A34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6336811-6BD7-4F9B-1AFE-3A0E9FE11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9" name="Google Shape;132;p7">
            <a:extLst>
              <a:ext uri="{FF2B5EF4-FFF2-40B4-BE49-F238E27FC236}">
                <a16:creationId xmlns:a16="http://schemas.microsoft.com/office/drawing/2014/main" id="{937D4A5A-70D9-32DE-689B-F02587597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08506" y="167904"/>
            <a:ext cx="7131872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420699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335021B4-E9BE-0523-24DF-81ED340C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AD005E9C-4B18-4E8D-C38B-47200233ACAF}"/>
              </a:ext>
            </a:extLst>
          </p:cNvPr>
          <p:cNvSpPr txBox="1"/>
          <p:nvPr/>
        </p:nvSpPr>
        <p:spPr>
          <a:xfrm rot="5400000">
            <a:off x="-3372014" y="3392565"/>
            <a:ext cx="6858000" cy="1420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373B14-792B-0482-03C9-02FB40ACA032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CFE464B1-D2C4-2A4F-5029-B4E8B06FD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4C36EEB-40B8-DB71-8E98-437ADA183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BA9F9C9-7CCB-4E9F-FC70-69EB30BB1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3" name="Google Shape;132;p7">
            <a:extLst>
              <a:ext uri="{FF2B5EF4-FFF2-40B4-BE49-F238E27FC236}">
                <a16:creationId xmlns:a16="http://schemas.microsoft.com/office/drawing/2014/main" id="{9A9D9118-9862-2ED9-A722-073118264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39576" y="34603"/>
            <a:ext cx="5511219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rgbClr val="FF3300"/>
                </a:solidFill>
              </a:rPr>
              <a:t>Summarize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946BDE-D376-61BE-0382-BA4E7DA001E0}"/>
              </a:ext>
            </a:extLst>
          </p:cNvPr>
          <p:cNvSpPr/>
          <p:nvPr/>
        </p:nvSpPr>
        <p:spPr>
          <a:xfrm>
            <a:off x="-1" y="969609"/>
            <a:ext cx="12192001" cy="6414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86A65-452F-3976-AC7D-63EFC62865D7}"/>
              </a:ext>
            </a:extLst>
          </p:cNvPr>
          <p:cNvSpPr txBox="1"/>
          <p:nvPr/>
        </p:nvSpPr>
        <p:spPr>
          <a:xfrm>
            <a:off x="646408" y="1060617"/>
            <a:ext cx="6894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  <a:latin typeface="Aptos" panose="020B0004020202020204" pitchFamily="34" charset="0"/>
              </a:rPr>
              <a:t>Data Flow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CD1342-CF97-29E0-CD55-0DAB10746B71}"/>
              </a:ext>
            </a:extLst>
          </p:cNvPr>
          <p:cNvSpPr/>
          <p:nvPr/>
        </p:nvSpPr>
        <p:spPr>
          <a:xfrm>
            <a:off x="192791" y="2981706"/>
            <a:ext cx="1799484" cy="17209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Preprocessing Data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A370C1-3E0E-0AAB-5AF6-9A1B2FE54104}"/>
              </a:ext>
            </a:extLst>
          </p:cNvPr>
          <p:cNvCxnSpPr>
            <a:cxnSpLocks/>
          </p:cNvCxnSpPr>
          <p:nvPr/>
        </p:nvCxnSpPr>
        <p:spPr>
          <a:xfrm>
            <a:off x="1968219" y="3798148"/>
            <a:ext cx="68217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1034E1D-A85A-A487-F751-EB88FB38922B}"/>
              </a:ext>
            </a:extLst>
          </p:cNvPr>
          <p:cNvSpPr/>
          <p:nvPr/>
        </p:nvSpPr>
        <p:spPr>
          <a:xfrm>
            <a:off x="2691099" y="2981706"/>
            <a:ext cx="1799484" cy="17209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EDA</a:t>
            </a:r>
            <a:endParaRPr lang="en-US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B3BD9E6-9326-0ED4-6BEA-C9A5F70C0AF3}"/>
              </a:ext>
            </a:extLst>
          </p:cNvPr>
          <p:cNvSpPr/>
          <p:nvPr/>
        </p:nvSpPr>
        <p:spPr>
          <a:xfrm>
            <a:off x="5314694" y="2981706"/>
            <a:ext cx="1799484" cy="17209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Clean </a:t>
            </a:r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Data/  Data analysis</a:t>
            </a:r>
            <a:endParaRPr lang="en-US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5765E3-6815-180E-DA27-69D8A14A72D6}"/>
              </a:ext>
            </a:extLst>
          </p:cNvPr>
          <p:cNvSpPr/>
          <p:nvPr/>
        </p:nvSpPr>
        <p:spPr>
          <a:xfrm>
            <a:off x="7836691" y="2917370"/>
            <a:ext cx="1799484" cy="17209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Choosin</a:t>
            </a:r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g the model 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4C1314-6D70-EE34-C455-9974FFFBBABA}"/>
              </a:ext>
            </a:extLst>
          </p:cNvPr>
          <p:cNvCxnSpPr>
            <a:cxnSpLocks/>
          </p:cNvCxnSpPr>
          <p:nvPr/>
        </p:nvCxnSpPr>
        <p:spPr>
          <a:xfrm>
            <a:off x="4468872" y="3798148"/>
            <a:ext cx="68217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DAAB22-8901-8DD9-AA6C-C06C889AA5F8}"/>
              </a:ext>
            </a:extLst>
          </p:cNvPr>
          <p:cNvCxnSpPr>
            <a:cxnSpLocks/>
          </p:cNvCxnSpPr>
          <p:nvPr/>
        </p:nvCxnSpPr>
        <p:spPr>
          <a:xfrm>
            <a:off x="7090124" y="3798148"/>
            <a:ext cx="68217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A2C39C-F1B5-27E9-0B7F-D762443FC11B}"/>
              </a:ext>
            </a:extLst>
          </p:cNvPr>
          <p:cNvCxnSpPr>
            <a:cxnSpLocks/>
          </p:cNvCxnSpPr>
          <p:nvPr/>
        </p:nvCxnSpPr>
        <p:spPr>
          <a:xfrm>
            <a:off x="9642609" y="3798148"/>
            <a:ext cx="68217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3BD7E95-728F-B373-A68F-4811D2E05B14}"/>
              </a:ext>
            </a:extLst>
          </p:cNvPr>
          <p:cNvSpPr/>
          <p:nvPr/>
        </p:nvSpPr>
        <p:spPr>
          <a:xfrm>
            <a:off x="10392516" y="2945094"/>
            <a:ext cx="1799484" cy="17209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Plotting</a:t>
            </a:r>
          </a:p>
        </p:txBody>
      </p:sp>
    </p:spTree>
    <p:extLst>
      <p:ext uri="{BB962C8B-B14F-4D97-AF65-F5344CB8AC3E}">
        <p14:creationId xmlns:p14="http://schemas.microsoft.com/office/powerpoint/2010/main" val="193592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D193F31A-11CF-24B4-FC63-7E414659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F01358C9-E4D4-17E2-0DBF-ED15CBFB2F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1" y="3715657"/>
            <a:ext cx="7010397" cy="8504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5400" dirty="0">
                <a:solidFill>
                  <a:schemeClr val="tx1"/>
                </a:solidFill>
                <a:latin typeface="Aptos" panose="020B0004020202020204" pitchFamily="34" charset="0"/>
              </a:rPr>
              <a:t>Recommendations</a:t>
            </a:r>
            <a:endParaRPr lang="en-US" sz="5400" dirty="0">
              <a:latin typeface="Aptos" panose="020B0004020202020204" pitchFamily="34" charset="0"/>
            </a:endParaRPr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7BB43D2-0A32-EF9E-5560-21637EC46CC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0196" y="296852"/>
            <a:ext cx="2774621" cy="2187105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14100" dirty="0">
                <a:solidFill>
                  <a:schemeClr val="tx1"/>
                </a:solidFill>
                <a:latin typeface="Aptos" panose="020B0004020202020204" pitchFamily="34" charset="0"/>
                <a:cs typeface="Sora SemiBold" panose="020B0604020202020204" charset="0"/>
              </a:rPr>
              <a:t>03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E56D9FB-09E2-E095-D8D0-46796506A444}"/>
              </a:ext>
            </a:extLst>
          </p:cNvPr>
          <p:cNvGrpSpPr/>
          <p:nvPr/>
        </p:nvGrpSpPr>
        <p:grpSpPr>
          <a:xfrm rot="10800000">
            <a:off x="8287655" y="1"/>
            <a:ext cx="4209143" cy="1233716"/>
            <a:chOff x="-258098" y="4115513"/>
            <a:chExt cx="3691861" cy="1027987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CCC08C3E-A232-A93A-C57F-8CDE4D80A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40CB0B99-0B11-FC51-0E80-FBC536D87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247EBCC4-8482-3FA1-B339-276843199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0" y="4372173"/>
              <a:ext cx="2521974" cy="77132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220AD1E-A82A-44E4-9E9E-2358484DA5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849" y="2498471"/>
            <a:ext cx="2757409" cy="27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62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3D61226F-488D-44FD-4E4C-0E8036B4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53B33FDF-08B2-37F5-510C-20211CF5F3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200" y="419770"/>
            <a:ext cx="10261600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sz="4800" noProof="0" dirty="0">
                <a:solidFill>
                  <a:srgbClr val="FF0000"/>
                </a:solidFill>
                <a:latin typeface="Aptos" panose="020B0004020202020204" pitchFamily="34" charset="0"/>
              </a:rPr>
              <a:t>Recommendations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65458-6BFE-7611-103E-AB628CDAF4F1}"/>
              </a:ext>
            </a:extLst>
          </p:cNvPr>
          <p:cNvGrpSpPr/>
          <p:nvPr/>
        </p:nvGrpSpPr>
        <p:grpSpPr>
          <a:xfrm rot="21030496">
            <a:off x="10504058" y="6103599"/>
            <a:ext cx="3006703" cy="829908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0B0B43A-5B97-C75E-5B89-25C4B1AA5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6C607ED-B0FA-A9C2-C790-92EA2C5E3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E068B34-F9DE-B0AE-561E-BC8C2841D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0660C9-A403-651E-A798-47C98FE7E07C}"/>
              </a:ext>
            </a:extLst>
          </p:cNvPr>
          <p:cNvGrpSpPr/>
          <p:nvPr/>
        </p:nvGrpSpPr>
        <p:grpSpPr>
          <a:xfrm rot="20728505" flipH="1" flipV="1">
            <a:off x="-1193758" y="-118192"/>
            <a:ext cx="2898236" cy="797232"/>
            <a:chOff x="6831900" y="4318971"/>
            <a:chExt cx="3227033" cy="887676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DD31452-8A30-1622-47BF-E085AB7BF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2E614FC-E101-8279-266C-D24F7C8E9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7578990-5391-5106-21DD-449DF21A7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D2A91FF9-8884-0842-6F59-1D1EAE3E346B}"/>
              </a:ext>
            </a:extLst>
          </p:cNvPr>
          <p:cNvSpPr txBox="1"/>
          <p:nvPr/>
        </p:nvSpPr>
        <p:spPr>
          <a:xfrm>
            <a:off x="232798" y="1650643"/>
            <a:ext cx="117264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1. Scaling the System Across ACUD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Start with a pilot project (e.g., one district or a main road).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Gradually expand to cover entire smart lighting infrastructure.</a:t>
            </a:r>
          </a:p>
          <a:p>
            <a:endParaRPr lang="en-US" sz="2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2. Integration with ACUD Smart Systems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Connect lighting control with ACUD’s central command &amp; IoT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Share real-time data with energy management systems and traffic monitoring.</a:t>
            </a:r>
          </a:p>
          <a:p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89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2F3DC27C-454E-8BCD-03AA-14030F4F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C983C870-A8A8-3F77-DD59-E8774A99C1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200" y="419770"/>
            <a:ext cx="10261600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sz="4800" noProof="0" dirty="0">
                <a:solidFill>
                  <a:srgbClr val="FF0000"/>
                </a:solidFill>
                <a:latin typeface="Aptos" panose="020B0004020202020204" pitchFamily="34" charset="0"/>
              </a:rPr>
              <a:t>Recommendations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A6A144-BBA4-9ECA-9C08-F449EF0F6FF2}"/>
              </a:ext>
            </a:extLst>
          </p:cNvPr>
          <p:cNvGrpSpPr/>
          <p:nvPr/>
        </p:nvGrpSpPr>
        <p:grpSpPr>
          <a:xfrm rot="21030496">
            <a:off x="10504058" y="6103599"/>
            <a:ext cx="3006703" cy="829908"/>
            <a:chOff x="6831797" y="4315899"/>
            <a:chExt cx="3227133" cy="8907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68A42B-D7A5-053F-E7C9-F4C1C53C2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797" y="4315899"/>
              <a:ext cx="2724237" cy="81557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F6779C0-F3F0-A6B4-AEF0-C4D4741E4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61" y="4446016"/>
              <a:ext cx="2319946" cy="69522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ED4018D-7D6A-5F6C-B376-60E162964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78" y="4594705"/>
              <a:ext cx="2000852" cy="611945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CBC029D-978D-10B4-5294-269B0EA3FAD7}"/>
              </a:ext>
            </a:extLst>
          </p:cNvPr>
          <p:cNvGrpSpPr/>
          <p:nvPr/>
        </p:nvGrpSpPr>
        <p:grpSpPr>
          <a:xfrm rot="20728505" flipH="1" flipV="1">
            <a:off x="-1193758" y="-118192"/>
            <a:ext cx="2898236" cy="797232"/>
            <a:chOff x="6831900" y="4318971"/>
            <a:chExt cx="3227033" cy="887676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652F893-0373-C3F9-A109-CD86A8E05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A0E675E-E851-8875-D968-32C7F4182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9034C80-3CC5-363B-94E4-E2D6011C9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0774766-A457-9D3E-AE07-F762D46AF93F}"/>
              </a:ext>
            </a:extLst>
          </p:cNvPr>
          <p:cNvSpPr txBox="1"/>
          <p:nvPr/>
        </p:nvSpPr>
        <p:spPr>
          <a:xfrm>
            <a:off x="296823" y="1546768"/>
            <a:ext cx="105968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3. Maintenance &amp; Reliability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Implement predictive maintenance for streetlights using IoT sensors.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Use data from the system to predict lamp failures before they happen.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4. KPIs to Track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% reduction in energy consumption.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% reduction in operational costs.</a:t>
            </a:r>
          </a:p>
        </p:txBody>
      </p:sp>
    </p:spTree>
    <p:extLst>
      <p:ext uri="{BB962C8B-B14F-4D97-AF65-F5344CB8AC3E}">
        <p14:creationId xmlns:p14="http://schemas.microsoft.com/office/powerpoint/2010/main" val="106069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12D8-3D14-6C15-F948-A4B2FF79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6;p13">
            <a:extLst>
              <a:ext uri="{FF2B5EF4-FFF2-40B4-BE49-F238E27FC236}">
                <a16:creationId xmlns:a16="http://schemas.microsoft.com/office/drawing/2014/main" id="{D1931433-ED5E-3FA5-F808-CD0021070071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rgbClr val="E1D9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grpSp>
        <p:nvGrpSpPr>
          <p:cNvPr id="15" name="Group 39">
            <a:extLst>
              <a:ext uri="{FF2B5EF4-FFF2-40B4-BE49-F238E27FC236}">
                <a16:creationId xmlns:a16="http://schemas.microsoft.com/office/drawing/2014/main" id="{F3C41D46-E901-21E3-874D-96ADDDE6794D}"/>
              </a:ext>
            </a:extLst>
          </p:cNvPr>
          <p:cNvGrpSpPr/>
          <p:nvPr/>
        </p:nvGrpSpPr>
        <p:grpSpPr>
          <a:xfrm>
            <a:off x="7529681" y="-51339"/>
            <a:ext cx="6356013" cy="741530"/>
            <a:chOff x="0" y="0"/>
            <a:chExt cx="1876002" cy="218865"/>
          </a:xfrm>
        </p:grpSpPr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0B0BDABB-45BC-C9D4-FA1A-A4104E61F6B9}"/>
                </a:ext>
              </a:extLst>
            </p:cNvPr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41">
              <a:extLst>
                <a:ext uri="{FF2B5EF4-FFF2-40B4-BE49-F238E27FC236}">
                  <a16:creationId xmlns:a16="http://schemas.microsoft.com/office/drawing/2014/main" id="{8213756A-52B5-05AB-F899-971492368E72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06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8" name="AutoShape 42">
            <a:extLst>
              <a:ext uri="{FF2B5EF4-FFF2-40B4-BE49-F238E27FC236}">
                <a16:creationId xmlns:a16="http://schemas.microsoft.com/office/drawing/2014/main" id="{86CB1B1E-0AA6-42AF-269C-05DCD8FB6E06}"/>
              </a:ext>
            </a:extLst>
          </p:cNvPr>
          <p:cNvSpPr/>
          <p:nvPr/>
        </p:nvSpPr>
        <p:spPr>
          <a:xfrm>
            <a:off x="303142" y="1275530"/>
            <a:ext cx="86141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748A5D8F-1D7B-F05E-B73B-906AEB11CD59}"/>
              </a:ext>
            </a:extLst>
          </p:cNvPr>
          <p:cNvSpPr/>
          <p:nvPr/>
        </p:nvSpPr>
        <p:spPr>
          <a:xfrm>
            <a:off x="303142" y="500185"/>
            <a:ext cx="4629150" cy="5786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761970">
              <a:lnSpc>
                <a:spcPts val="4556"/>
              </a:lnSpc>
            </a:pPr>
            <a:r>
              <a:rPr lang="en-US" sz="5400" dirty="0">
                <a:solidFill>
                  <a:srgbClr val="FF3300"/>
                </a:solidFill>
                <a:latin typeface="Aptos" panose="020B0004020202020204" pitchFamily="34" charset="0"/>
              </a:rPr>
              <a:t>Live testing</a:t>
            </a:r>
          </a:p>
        </p:txBody>
      </p:sp>
      <p:pic>
        <p:nvPicPr>
          <p:cNvPr id="20" name="Picture 19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5C1CBB42-08FD-4E57-EA11-0968B2B42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515" y="-584336"/>
            <a:ext cx="1845352" cy="1845352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455486BA-E056-D7EE-6C5C-42839A05D2C4}"/>
              </a:ext>
            </a:extLst>
          </p:cNvPr>
          <p:cNvSpPr/>
          <p:nvPr/>
        </p:nvSpPr>
        <p:spPr>
          <a:xfrm>
            <a:off x="4882585" y="5385444"/>
            <a:ext cx="2647096" cy="578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761970"/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  <a:ea typeface="Gelasio" pitchFamily="34" charset="-122"/>
                <a:cs typeface="Gelasio" pitchFamily="34" charset="-120"/>
              </a:rPr>
              <a:t>Website</a:t>
            </a:r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321F3A5-552E-9E28-544F-AF48356336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873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0C3C5676-0EEF-3C36-B3EA-752A9507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727DF8-9232-3A73-1173-69326BC89773}"/>
              </a:ext>
            </a:extLst>
          </p:cNvPr>
          <p:cNvGrpSpPr/>
          <p:nvPr/>
        </p:nvGrpSpPr>
        <p:grpSpPr>
          <a:xfrm flipH="1">
            <a:off x="9124543" y="5983384"/>
            <a:ext cx="3898900" cy="1255599"/>
            <a:chOff x="-258098" y="4267200"/>
            <a:chExt cx="2924175" cy="941699"/>
          </a:xfrm>
          <a:solidFill>
            <a:schemeClr val="bg1">
              <a:lumMod val="60000"/>
              <a:lumOff val="40000"/>
            </a:schemeClr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945179C-C2D9-5C63-E732-7C9F1B3CC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5153270-C347-8917-81D2-35BB51F86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56997" y="4437574"/>
              <a:ext cx="2521974" cy="771325"/>
            </a:xfrm>
            <a:prstGeom prst="rect">
              <a:avLst/>
            </a:prstGeom>
          </p:spPr>
        </p:pic>
      </p:grpSp>
      <p:sp>
        <p:nvSpPr>
          <p:cNvPr id="77" name="Google Shape;77;p1">
            <a:extLst>
              <a:ext uri="{FF2B5EF4-FFF2-40B4-BE49-F238E27FC236}">
                <a16:creationId xmlns:a16="http://schemas.microsoft.com/office/drawing/2014/main" id="{AA4FADE6-D8C5-8239-54E9-864838D09C4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952913" y="3405007"/>
            <a:ext cx="6239083" cy="1233485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7200" dirty="0">
                <a:solidFill>
                  <a:schemeClr val="tx1"/>
                </a:solidFill>
                <a:latin typeface="Aptos" panose="020B0004020202020204" pitchFamily="34" charset="0"/>
              </a:rPr>
              <a:t>Business Plan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FD0A0F6-C4F7-FB2C-BC4B-CA498E8BDFF6}"/>
              </a:ext>
            </a:extLst>
          </p:cNvPr>
          <p:cNvGrpSpPr/>
          <p:nvPr/>
        </p:nvGrpSpPr>
        <p:grpSpPr>
          <a:xfrm>
            <a:off x="11207311" y="-1"/>
            <a:ext cx="984685" cy="3293602"/>
            <a:chOff x="8405486" y="0"/>
            <a:chExt cx="738514" cy="2470201"/>
          </a:xfrm>
          <a:solidFill>
            <a:schemeClr val="bg1">
              <a:lumMod val="75000"/>
            </a:schemeClr>
          </a:solidFill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1B6221C-E00D-1A1E-3C6E-DC3960686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05486" y="0"/>
              <a:ext cx="738514" cy="247020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A3BACE3F-98DF-9411-FC63-1D6701119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95236" y="1"/>
              <a:ext cx="448764" cy="1747400"/>
            </a:xfrm>
            <a:prstGeom prst="rect">
              <a:avLst/>
            </a:prstGeom>
          </p:spPr>
        </p:pic>
      </p:grpSp>
      <p:sp>
        <p:nvSpPr>
          <p:cNvPr id="15" name="Google Shape;110;p4">
            <a:extLst>
              <a:ext uri="{FF2B5EF4-FFF2-40B4-BE49-F238E27FC236}">
                <a16:creationId xmlns:a16="http://schemas.microsoft.com/office/drawing/2014/main" id="{67DF8420-FF97-063E-D36E-F3CB46D4A00F}"/>
              </a:ext>
            </a:extLst>
          </p:cNvPr>
          <p:cNvSpPr txBox="1">
            <a:spLocks/>
          </p:cNvSpPr>
          <p:nvPr/>
        </p:nvSpPr>
        <p:spPr>
          <a:xfrm>
            <a:off x="796300" y="666661"/>
            <a:ext cx="2774621" cy="2187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Lato" panose="020F0502020204030203" pitchFamily="34" charset="0"/>
                <a:cs typeface="Sora SemiBold" panose="020B0604020202020204" charset="0"/>
                <a:sym typeface="Arial"/>
              </a:rPr>
              <a:t>04</a:t>
            </a:r>
          </a:p>
        </p:txBody>
      </p:sp>
      <p:pic>
        <p:nvPicPr>
          <p:cNvPr id="6" name="Picture 5" descr="A hand holding a phone and a light bulb&#10;&#10;AI-generated content may be incorrect.">
            <a:extLst>
              <a:ext uri="{FF2B5EF4-FFF2-40B4-BE49-F238E27FC236}">
                <a16:creationId xmlns:a16="http://schemas.microsoft.com/office/drawing/2014/main" id="{6176CB2D-92EC-7A67-2694-B683978772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572" y="2510501"/>
            <a:ext cx="3472883" cy="34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10482"/>
      </p:ext>
    </p:extLst>
  </p:cSld>
  <p:clrMapOvr>
    <a:masterClrMapping/>
  </p:clrMapOvr>
  <p:transition spd="slow" advClick="0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D0E0E469-D94D-0E1B-DF47-02ECF2E0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26484296-CBCC-E060-C639-7FA4F76CBAD7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FE9528-F195-C817-5FAF-916F494EE4BE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56F0D3D-FE37-0203-49D6-22FAF9546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3D42650-35B8-2825-3513-59F40637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5546A2A-1E97-FC2F-A323-6983E5ED3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3" name="Google Shape;132;p7">
            <a:extLst>
              <a:ext uri="{FF2B5EF4-FFF2-40B4-BE49-F238E27FC236}">
                <a16:creationId xmlns:a16="http://schemas.microsoft.com/office/drawing/2014/main" id="{7594DF4B-4B73-A70A-7D90-5817C1C704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36" y="129026"/>
            <a:ext cx="4710325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dirty="0">
                <a:solidFill>
                  <a:srgbClr val="FF3300"/>
                </a:solidFill>
              </a:rPr>
              <a:t>Real Application</a:t>
            </a:r>
            <a:endParaRPr lang="en-US" noProof="0" dirty="0">
              <a:solidFill>
                <a:srgbClr val="FF33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2A6ADE-314A-54E6-3C0A-EE4ADBD7B5C7}"/>
              </a:ext>
            </a:extLst>
          </p:cNvPr>
          <p:cNvSpPr/>
          <p:nvPr/>
        </p:nvSpPr>
        <p:spPr>
          <a:xfrm>
            <a:off x="-1" y="969609"/>
            <a:ext cx="12192001" cy="6414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3CBF5E-038B-97B9-EDB0-4DAB36C2C444}"/>
              </a:ext>
            </a:extLst>
          </p:cNvPr>
          <p:cNvSpPr txBox="1"/>
          <p:nvPr/>
        </p:nvSpPr>
        <p:spPr>
          <a:xfrm>
            <a:off x="646408" y="1060617"/>
            <a:ext cx="6894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  <a:latin typeface="Aptos" panose="020B0004020202020204" pitchFamily="34" charset="0"/>
              </a:rPr>
              <a:t>Real-World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FB076-88B4-1E9A-EAA7-AF3E13E01691}"/>
              </a:ext>
            </a:extLst>
          </p:cNvPr>
          <p:cNvSpPr txBox="1"/>
          <p:nvPr/>
        </p:nvSpPr>
        <p:spPr>
          <a:xfrm>
            <a:off x="646408" y="1803872"/>
            <a:ext cx="7786392" cy="3261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Smart building automation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Street lighting optimization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Energy cost reduction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Integration with </a:t>
            </a:r>
            <a:r>
              <a:rPr lang="en-US" sz="2800" b="1" dirty="0">
                <a:latin typeface="Aptos" panose="020B0004020202020204" pitchFamily="34" charset="0"/>
              </a:rPr>
              <a:t>renewable energy</a:t>
            </a:r>
            <a:endParaRPr lang="en-US" sz="2800" dirty="0"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Predictive </a:t>
            </a:r>
            <a:r>
              <a:rPr lang="en-US" sz="2800" b="1" dirty="0">
                <a:latin typeface="Aptos" panose="020B0004020202020204" pitchFamily="34" charset="0"/>
              </a:rPr>
              <a:t>demand-response management</a:t>
            </a:r>
            <a:endParaRPr lang="en-US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68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853DDDFB-3D9C-69A5-703D-F41F5032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8EE66535-52CE-951C-F095-3D027F2119C3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66E176-6B76-2194-0525-97C84A530162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E7F7874-8C84-27F1-CD77-6A38A2071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149B6E5-81AD-ED9F-AAA1-8EDB82A92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F1D5092-7DB1-84E4-05A9-EB3BCA059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3" name="Google Shape;132;p7">
            <a:extLst>
              <a:ext uri="{FF2B5EF4-FFF2-40B4-BE49-F238E27FC236}">
                <a16:creationId xmlns:a16="http://schemas.microsoft.com/office/drawing/2014/main" id="{80DDE36A-7A4A-3110-9CFD-DDBA90C6F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36" y="129026"/>
            <a:ext cx="4710325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rgbClr val="FF3300"/>
                </a:solidFill>
              </a:rPr>
              <a:t>Fit with ACUD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C52E17-0966-C9F8-25DE-893993764D03}"/>
              </a:ext>
            </a:extLst>
          </p:cNvPr>
          <p:cNvSpPr/>
          <p:nvPr/>
        </p:nvSpPr>
        <p:spPr>
          <a:xfrm>
            <a:off x="-1" y="969609"/>
            <a:ext cx="12192001" cy="6414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D9260-FA9B-64DF-1998-106D79BA737E}"/>
              </a:ext>
            </a:extLst>
          </p:cNvPr>
          <p:cNvSpPr txBox="1"/>
          <p:nvPr/>
        </p:nvSpPr>
        <p:spPr>
          <a:xfrm>
            <a:off x="370636" y="1674845"/>
            <a:ext cx="10723397" cy="3261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</a:rPr>
              <a:t>Smart City Needs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Energy efficiency (reduce wasted electricity in lighting).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Sustainability (support Egypt’s 2030 Vision &amp; SDGs).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Automation (reduce human intervention in city infrastructure).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Safety &amp; Security (well-lit public spaces at the right time)</a:t>
            </a:r>
          </a:p>
        </p:txBody>
      </p:sp>
    </p:spTree>
    <p:extLst>
      <p:ext uri="{BB962C8B-B14F-4D97-AF65-F5344CB8AC3E}">
        <p14:creationId xmlns:p14="http://schemas.microsoft.com/office/powerpoint/2010/main" val="207469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1DDE28DA-2FDA-4E06-829F-9E156C2E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63DF0F09-7111-79EE-F6C7-9A5670DC7E3F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83C5D4-BCB4-8E6B-1A04-B30D6164AADC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E838E78F-C777-B858-C20C-90696499B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29D53DB-BFC9-8D73-CCB1-713E0DCB5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C09DF3A0-4DD7-0780-4C14-EDA2FC3BA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3" name="Google Shape;132;p7">
            <a:extLst>
              <a:ext uri="{FF2B5EF4-FFF2-40B4-BE49-F238E27FC236}">
                <a16:creationId xmlns:a16="http://schemas.microsoft.com/office/drawing/2014/main" id="{2EDF1430-8938-D151-6CC1-85A0658CE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36" y="129026"/>
            <a:ext cx="4710325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rgbClr val="FF3300"/>
                </a:solidFill>
              </a:rPr>
              <a:t>Fit with ACUD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7C4745-0C5F-2AE7-E977-FB2854BF2649}"/>
              </a:ext>
            </a:extLst>
          </p:cNvPr>
          <p:cNvSpPr/>
          <p:nvPr/>
        </p:nvSpPr>
        <p:spPr>
          <a:xfrm>
            <a:off x="-1" y="969609"/>
            <a:ext cx="12192001" cy="6414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D1ED7-7D94-9E22-219E-69F66074CB10}"/>
              </a:ext>
            </a:extLst>
          </p:cNvPr>
          <p:cNvSpPr txBox="1"/>
          <p:nvPr/>
        </p:nvSpPr>
        <p:spPr>
          <a:xfrm>
            <a:off x="370636" y="1674845"/>
            <a:ext cx="1219200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IoT-Enabled Smart Lighting with AI Prediction</a:t>
            </a:r>
            <a:r>
              <a:rPr lang="en-US" sz="2000" dirty="0">
                <a:latin typeface="Aptos" panose="020B0004020202020204" pitchFamily="34" charset="0"/>
              </a:rPr>
              <a:t> directly supports ACUD’s </a:t>
            </a:r>
            <a:r>
              <a:rPr lang="en-US" sz="2000" b="1" dirty="0">
                <a:latin typeface="Aptos" panose="020B0004020202020204" pitchFamily="34" charset="0"/>
              </a:rPr>
              <a:t>mission &amp; vision</a:t>
            </a:r>
            <a:r>
              <a:rPr lang="en-US" sz="2000" dirty="0">
                <a:latin typeface="Aptos" panose="020B0004020202020204" pitchFamily="34" charset="0"/>
              </a:rPr>
              <a:t>:</a:t>
            </a:r>
          </a:p>
          <a:p>
            <a:r>
              <a:rPr lang="en-US" sz="2000" dirty="0">
                <a:latin typeface="Aptos" panose="020B0004020202020204" pitchFamily="34" charset="0"/>
              </a:rPr>
              <a:t>🌍 </a:t>
            </a:r>
            <a:r>
              <a:rPr lang="en-US" sz="2000" b="1" dirty="0">
                <a:latin typeface="Aptos" panose="020B0004020202020204" pitchFamily="34" charset="0"/>
              </a:rPr>
              <a:t>Sustainability</a:t>
            </a:r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Reduces unnecessary energy consumption.</a:t>
            </a: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Adapts lighting based on weather, time, and need.</a:t>
            </a:r>
          </a:p>
          <a:p>
            <a:r>
              <a:rPr lang="en-US" sz="2000" dirty="0">
                <a:latin typeface="Aptos" panose="020B0004020202020204" pitchFamily="34" charset="0"/>
              </a:rPr>
              <a:t>💡 </a:t>
            </a:r>
            <a:r>
              <a:rPr lang="en-US" sz="2000" b="1" dirty="0">
                <a:latin typeface="Aptos" panose="020B0004020202020204" pitchFamily="34" charset="0"/>
              </a:rPr>
              <a:t>Smart Infrastructure</a:t>
            </a:r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Intelligent streetlights adjust brightness dynamically.</a:t>
            </a: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Saves energy while keeping roads safe.</a:t>
            </a:r>
          </a:p>
          <a:p>
            <a:r>
              <a:rPr lang="en-US" sz="2000" dirty="0">
                <a:latin typeface="Aptos" panose="020B0004020202020204" pitchFamily="34" charset="0"/>
              </a:rPr>
              <a:t>📊 </a:t>
            </a:r>
            <a:r>
              <a:rPr lang="en-US" sz="2000" b="1" dirty="0">
                <a:latin typeface="Aptos" panose="020B0004020202020204" pitchFamily="34" charset="0"/>
              </a:rPr>
              <a:t>Data-Driven Decisions</a:t>
            </a:r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Provides insights into </a:t>
            </a:r>
            <a:r>
              <a:rPr lang="en-US" sz="2000" b="1" dirty="0">
                <a:latin typeface="Aptos" panose="020B0004020202020204" pitchFamily="34" charset="0"/>
              </a:rPr>
              <a:t>energy usage patterns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Helps ACUD optimize power distribution across the city.</a:t>
            </a:r>
          </a:p>
          <a:p>
            <a:r>
              <a:rPr lang="en-US" sz="2000" dirty="0">
                <a:latin typeface="Aptos" panose="020B0004020202020204" pitchFamily="34" charset="0"/>
              </a:rPr>
              <a:t>⚡ </a:t>
            </a:r>
            <a:r>
              <a:rPr lang="en-US" sz="2000" b="1" dirty="0">
                <a:latin typeface="Aptos" panose="020B0004020202020204" pitchFamily="34" charset="0"/>
              </a:rPr>
              <a:t>Cost Reduction</a:t>
            </a:r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Reduces the city’s electricity bills.</a:t>
            </a: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Allows reinvestment into other smart city services.</a:t>
            </a:r>
          </a:p>
          <a:p>
            <a:r>
              <a:rPr lang="en-US" sz="2000" dirty="0">
                <a:latin typeface="Aptos" panose="020B0004020202020204" pitchFamily="34" charset="0"/>
              </a:rPr>
              <a:t>🤖 </a:t>
            </a:r>
            <a:r>
              <a:rPr lang="en-US" sz="2000" b="1" dirty="0">
                <a:latin typeface="Aptos" panose="020B0004020202020204" pitchFamily="34" charset="0"/>
              </a:rPr>
              <a:t>AI + IoT Integration</a:t>
            </a:r>
            <a:endParaRPr lang="en-US" sz="2000" dirty="0">
              <a:latin typeface="Aptos" panose="020B0004020202020204" pitchFamily="34" charset="0"/>
            </a:endParaRP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Uses Random Forest + IoT sensors.</a:t>
            </a: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Makes the system adaptive and future-ready.</a:t>
            </a:r>
          </a:p>
        </p:txBody>
      </p:sp>
    </p:spTree>
    <p:extLst>
      <p:ext uri="{BB962C8B-B14F-4D97-AF65-F5344CB8AC3E}">
        <p14:creationId xmlns:p14="http://schemas.microsoft.com/office/powerpoint/2010/main" val="375462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A5EB0289-6353-AFE4-846C-D8B887BD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;p13">
            <a:extLst>
              <a:ext uri="{FF2B5EF4-FFF2-40B4-BE49-F238E27FC236}">
                <a16:creationId xmlns:a16="http://schemas.microsoft.com/office/drawing/2014/main" id="{229A81AC-CF7E-B18B-7224-3C2AD63F48AD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5262CA-E323-40AE-2ABE-3FDFA63ECC0A}"/>
              </a:ext>
            </a:extLst>
          </p:cNvPr>
          <p:cNvGrpSpPr/>
          <p:nvPr/>
        </p:nvGrpSpPr>
        <p:grpSpPr>
          <a:xfrm rot="871495" flipV="1">
            <a:off x="10295306" y="-161540"/>
            <a:ext cx="2898236" cy="797232"/>
            <a:chOff x="6831900" y="4318971"/>
            <a:chExt cx="3227033" cy="887676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1707E36-F243-A60E-D25F-129B78451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6831900" y="4318971"/>
              <a:ext cx="2724237" cy="815572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98FB3E5-6F17-B372-593B-85BAEF346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286058" y="4446020"/>
              <a:ext cx="2319946" cy="6952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9CE3945-38C4-4B04-7724-22C7D2B0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058080" y="4594703"/>
              <a:ext cx="2000853" cy="611944"/>
            </a:xfrm>
            <a:prstGeom prst="rect">
              <a:avLst/>
            </a:prstGeom>
          </p:spPr>
        </p:pic>
      </p:grpSp>
      <p:sp>
        <p:nvSpPr>
          <p:cNvPr id="13" name="Google Shape;132;p7">
            <a:extLst>
              <a:ext uri="{FF2B5EF4-FFF2-40B4-BE49-F238E27FC236}">
                <a16:creationId xmlns:a16="http://schemas.microsoft.com/office/drawing/2014/main" id="{B1569CF3-F29E-009D-D944-E9EBC80C8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36" y="129026"/>
            <a:ext cx="4710325" cy="705236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lvl="0"/>
            <a:r>
              <a:rPr lang="en-US" noProof="0" dirty="0">
                <a:solidFill>
                  <a:srgbClr val="FF3300"/>
                </a:solidFill>
              </a:rPr>
              <a:t>Fit with ACUD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3A539-434F-37E7-637F-148EF7386CB4}"/>
              </a:ext>
            </a:extLst>
          </p:cNvPr>
          <p:cNvSpPr/>
          <p:nvPr/>
        </p:nvSpPr>
        <p:spPr>
          <a:xfrm>
            <a:off x="-1" y="969609"/>
            <a:ext cx="12192001" cy="641477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AB7D1-2043-8BD2-07E2-A387E925E52C}"/>
              </a:ext>
            </a:extLst>
          </p:cNvPr>
          <p:cNvSpPr txBox="1"/>
          <p:nvPr/>
        </p:nvSpPr>
        <p:spPr>
          <a:xfrm>
            <a:off x="370636" y="1674845"/>
            <a:ext cx="11618164" cy="3261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</a:rPr>
              <a:t>Example Use-Cases in ACUD</a:t>
            </a:r>
            <a:endParaRPr lang="en-US" sz="2800" dirty="0"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Streetlights on highways adjust based on traffic &amp; weather.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Residential areas dim lights after midnight when activity is low.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Public parks use motion sensors + your model for adaptive lighting.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Government buildings optimize indoor lighting based on energy tariffs.</a:t>
            </a:r>
          </a:p>
        </p:txBody>
      </p:sp>
    </p:spTree>
    <p:extLst>
      <p:ext uri="{BB962C8B-B14F-4D97-AF65-F5344CB8AC3E}">
        <p14:creationId xmlns:p14="http://schemas.microsoft.com/office/powerpoint/2010/main" val="357979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02791" y="500185"/>
            <a:ext cx="4629150" cy="5786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761970">
              <a:lnSpc>
                <a:spcPts val="4556"/>
              </a:lnSpc>
            </a:pPr>
            <a:r>
              <a:rPr lang="en-US" sz="5400" dirty="0">
                <a:solidFill>
                  <a:srgbClr val="FF3300"/>
                </a:solidFill>
                <a:latin typeface="Aptos" panose="020B0004020202020204" pitchFamily="34" charset="0"/>
                <a:ea typeface="Gelasio" pitchFamily="34" charset="-122"/>
              </a:rPr>
              <a:t>Benefit </a:t>
            </a:r>
            <a:endParaRPr lang="en-US" sz="5400" dirty="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39741" y="4040100"/>
            <a:ext cx="323949" cy="323949"/>
          </a:xfrm>
          <a:prstGeom prst="roundRect">
            <a:avLst>
              <a:gd name="adj" fmla="val 2572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6489" y="4026586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761970">
              <a:lnSpc>
                <a:spcPts val="2278"/>
              </a:lnSpc>
            </a:pPr>
            <a:r>
              <a:rPr lang="en-US" sz="1822" dirty="0">
                <a:latin typeface="Aptos" panose="020B0004020202020204" pitchFamily="34" charset="0"/>
                <a:ea typeface="Gelasio" pitchFamily="34" charset="-122"/>
                <a:cs typeface="Gelasio" pitchFamily="34" charset="-120"/>
              </a:rPr>
              <a:t>Increased Productivity</a:t>
            </a:r>
            <a:endParaRPr lang="en-US" sz="1822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3397" y="4663251"/>
            <a:ext cx="2942637" cy="1694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Inter"/>
                <a:cs typeface="Inter"/>
                <a:sym typeface="Inter"/>
              </a:rPr>
              <a:t>Improved accuracy</a:t>
            </a:r>
          </a:p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Inter"/>
                <a:cs typeface="Inter"/>
                <a:sym typeface="Inter"/>
              </a:rPr>
              <a:t>Enhanced safety</a:t>
            </a:r>
          </a:p>
          <a:p>
            <a:pPr defTabSz="761970">
              <a:lnSpc>
                <a:spcPts val="2332"/>
              </a:lnSpc>
            </a:pPr>
            <a:endParaRPr lang="en-US" sz="2000" dirty="0">
              <a:solidFill>
                <a:prstClr val="black"/>
              </a:solidFill>
              <a:latin typeface="Aptos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13611" y="4052187"/>
            <a:ext cx="323949" cy="323949"/>
          </a:xfrm>
          <a:prstGeom prst="roundRect">
            <a:avLst>
              <a:gd name="adj" fmla="val 2572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40839" y="4040648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761970">
              <a:lnSpc>
                <a:spcPts val="2278"/>
              </a:lnSpc>
            </a:pPr>
            <a:r>
              <a:rPr lang="en-US" i="0" dirty="0"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Innovative Solution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27562" y="4670916"/>
            <a:ext cx="2749250" cy="1860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Lato" pitchFamily="34" charset="-122"/>
                <a:cs typeface="Lato" pitchFamily="34" charset="-120"/>
              </a:rPr>
              <a:t>Innovative approach to a common industrial challenge</a:t>
            </a:r>
          </a:p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Lato" pitchFamily="34" charset="-122"/>
                <a:cs typeface="Lato" pitchFamily="34" charset="-120"/>
              </a:rPr>
              <a:t>Aligns with industry trends</a:t>
            </a:r>
          </a:p>
        </p:txBody>
      </p:sp>
      <p:sp>
        <p:nvSpPr>
          <p:cNvPr id="11" name="Shape 8"/>
          <p:cNvSpPr/>
          <p:nvPr/>
        </p:nvSpPr>
        <p:spPr>
          <a:xfrm>
            <a:off x="9233701" y="4040345"/>
            <a:ext cx="323949" cy="323949"/>
          </a:xfrm>
          <a:prstGeom prst="roundRect">
            <a:avLst>
              <a:gd name="adj" fmla="val 2572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97513" y="4052413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761970">
              <a:lnSpc>
                <a:spcPts val="2278"/>
              </a:lnSpc>
            </a:pPr>
            <a:r>
              <a:rPr lang="en-US" sz="1822" dirty="0">
                <a:latin typeface="Aptos" panose="020B0004020202020204" pitchFamily="34" charset="0"/>
                <a:ea typeface="Gelasio" pitchFamily="34" charset="-122"/>
                <a:cs typeface="Gelasio" pitchFamily="34" charset="-120"/>
              </a:rPr>
              <a:t>Flexible Design</a:t>
            </a:r>
            <a:endParaRPr lang="en-US" sz="1822" dirty="0">
              <a:latin typeface="Aptos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6812" y="4663250"/>
            <a:ext cx="2578339" cy="18602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  <a:ea typeface="Lato" pitchFamily="34" charset="-122"/>
                <a:cs typeface="Lato" pitchFamily="34" charset="-120"/>
              </a:rPr>
              <a:t>Easily adapted to different types and sizes of cable drums</a:t>
            </a:r>
          </a:p>
        </p:txBody>
      </p:sp>
      <p:sp>
        <p:nvSpPr>
          <p:cNvPr id="14" name="Shape 11"/>
          <p:cNvSpPr/>
          <p:nvPr/>
        </p:nvSpPr>
        <p:spPr>
          <a:xfrm>
            <a:off x="6358462" y="4037899"/>
            <a:ext cx="323949" cy="323949"/>
          </a:xfrm>
          <a:prstGeom prst="roundRect">
            <a:avLst>
              <a:gd name="adj" fmla="val 2572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615104" y="4031161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761970">
              <a:lnSpc>
                <a:spcPts val="2278"/>
              </a:lnSpc>
            </a:pPr>
            <a:r>
              <a:rPr lang="en-US" sz="1822" dirty="0">
                <a:latin typeface="Aptos" panose="020B0004020202020204" pitchFamily="34" charset="0"/>
                <a:ea typeface="Gelasio" pitchFamily="34" charset="-122"/>
                <a:cs typeface="Gelasio" pitchFamily="34" charset="-120"/>
              </a:rPr>
              <a:t>Drive Growth</a:t>
            </a:r>
            <a:endParaRPr lang="en-US" sz="1822" dirty="0">
              <a:latin typeface="Aptos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885744" y="4623737"/>
            <a:ext cx="3436886" cy="18562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Prevents costly downtime</a:t>
            </a:r>
          </a:p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Improves project planning</a:t>
            </a:r>
          </a:p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Better resource management</a:t>
            </a:r>
          </a:p>
          <a:p>
            <a:pPr marL="342900" indent="-342900" defTabSz="76197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Analytics support decision-making</a:t>
            </a:r>
          </a:p>
        </p:txBody>
      </p:sp>
      <p:sp>
        <p:nvSpPr>
          <p:cNvPr id="33" name="Google Shape;56;p13">
            <a:extLst>
              <a:ext uri="{FF2B5EF4-FFF2-40B4-BE49-F238E27FC236}">
                <a16:creationId xmlns:a16="http://schemas.microsoft.com/office/drawing/2014/main" id="{DEB0D3D8-5F75-728E-4AAA-74B06EC053C4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grpSp>
        <p:nvGrpSpPr>
          <p:cNvPr id="42" name="Group 39">
            <a:extLst>
              <a:ext uri="{FF2B5EF4-FFF2-40B4-BE49-F238E27FC236}">
                <a16:creationId xmlns:a16="http://schemas.microsoft.com/office/drawing/2014/main" id="{1E9E92B5-CBA2-D676-ABED-019C96287358}"/>
              </a:ext>
            </a:extLst>
          </p:cNvPr>
          <p:cNvGrpSpPr/>
          <p:nvPr/>
        </p:nvGrpSpPr>
        <p:grpSpPr>
          <a:xfrm>
            <a:off x="7629330" y="-51339"/>
            <a:ext cx="6356013" cy="741530"/>
            <a:chOff x="0" y="0"/>
            <a:chExt cx="1876002" cy="218865"/>
          </a:xfrm>
        </p:grpSpPr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2940DF8B-62D8-AE6A-EACC-985CB433C692}"/>
                </a:ext>
              </a:extLst>
            </p:cNvPr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1">
              <a:extLst>
                <a:ext uri="{FF2B5EF4-FFF2-40B4-BE49-F238E27FC236}">
                  <a16:creationId xmlns:a16="http://schemas.microsoft.com/office/drawing/2014/main" id="{21FECD88-DE7A-78A6-3E25-E92FF83DD5EF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06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5" name="AutoShape 42">
            <a:extLst>
              <a:ext uri="{FF2B5EF4-FFF2-40B4-BE49-F238E27FC236}">
                <a16:creationId xmlns:a16="http://schemas.microsoft.com/office/drawing/2014/main" id="{82E6F63E-926B-1301-AC0E-F926F9DCC7D6}"/>
              </a:ext>
            </a:extLst>
          </p:cNvPr>
          <p:cNvSpPr/>
          <p:nvPr/>
        </p:nvSpPr>
        <p:spPr>
          <a:xfrm>
            <a:off x="402791" y="1275530"/>
            <a:ext cx="86141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E9CA662-057C-5CA5-7253-72EFA6E85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700" y="2323560"/>
            <a:ext cx="1481734" cy="148173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EF4E311-F278-42C1-D56F-58B8B87E5A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374" y="2376873"/>
            <a:ext cx="1460684" cy="146068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0FB2312-0943-4A22-6668-2CF14C5DD6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204" y="2346406"/>
            <a:ext cx="1471896" cy="147189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6C0DF9D-95CF-A694-2F62-75A985AC54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212" y="2323560"/>
            <a:ext cx="1490890" cy="1490890"/>
          </a:xfrm>
          <a:prstGeom prst="rect">
            <a:avLst/>
          </a:prstGeom>
        </p:spPr>
      </p:pic>
      <p:sp>
        <p:nvSpPr>
          <p:cNvPr id="54" name="Google Shape;126;p6">
            <a:extLst>
              <a:ext uri="{FF2B5EF4-FFF2-40B4-BE49-F238E27FC236}">
                <a16:creationId xmlns:a16="http://schemas.microsoft.com/office/drawing/2014/main" id="{A42F22CA-7A2F-A416-AA69-CDE87A13F544}"/>
              </a:ext>
            </a:extLst>
          </p:cNvPr>
          <p:cNvSpPr txBox="1">
            <a:spLocks/>
          </p:cNvSpPr>
          <p:nvPr/>
        </p:nvSpPr>
        <p:spPr>
          <a:xfrm>
            <a:off x="402791" y="1557667"/>
            <a:ext cx="4429853" cy="5233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>
            <a:lvl1pPr marL="285739" indent="-285739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defTabSz="7619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2462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3447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431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5416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1">
                    <a:lumMod val="90000"/>
                  </a:schemeClr>
                </a:solidFill>
                <a:latin typeface="Aptos" panose="020B0004020202020204" pitchFamily="34" charset="0"/>
              </a:rPr>
              <a:t>Project Advantage </a:t>
            </a:r>
          </a:p>
        </p:txBody>
      </p:sp>
      <p:pic>
        <p:nvPicPr>
          <p:cNvPr id="2" name="Picture 1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FCAAEE15-3B04-7F55-07A2-FF797327CF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515" y="-584336"/>
            <a:ext cx="1845352" cy="184535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ECC6AF5-347A-7A7E-8FAC-0667B8845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7613650" y="-9933"/>
            <a:ext cx="4578351" cy="137064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8D21425-4008-D6C9-94AF-E3A84FD22F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8293101" y="-9933"/>
            <a:ext cx="3898900" cy="11684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BD07EAE-C3B7-01EC-4D46-3A61AD901C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8829368" y="-137707"/>
            <a:ext cx="3362632" cy="1028433"/>
          </a:xfrm>
          <a:prstGeom prst="rect">
            <a:avLst/>
          </a:prstGeom>
        </p:spPr>
      </p:pic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5730568" y="2062969"/>
            <a:ext cx="6197600" cy="2704352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sz="7200" dirty="0">
                <a:solidFill>
                  <a:schemeClr val="tx1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2"/>
          </p:nvPr>
        </p:nvSpPr>
        <p:spPr>
          <a:xfrm>
            <a:off x="965200" y="762825"/>
            <a:ext cx="2774621" cy="2187105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pPr lvl="0"/>
            <a:r>
              <a:rPr lang="en-US" sz="14100" noProof="0" dirty="0">
                <a:solidFill>
                  <a:schemeClr val="tx1"/>
                </a:solidFill>
                <a:latin typeface="Aptos" panose="020B0004020202020204" pitchFamily="34" charset="0"/>
              </a:rPr>
              <a:t>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13187-0783-F1E5-13C4-2C5AE69943B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BB8AF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189351" y="2042534"/>
            <a:ext cx="2487384" cy="373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Google Shape;123;p6">
            <a:extLst>
              <a:ext uri="{FF2B5EF4-FFF2-40B4-BE49-F238E27FC236}">
                <a16:creationId xmlns:a16="http://schemas.microsoft.com/office/drawing/2014/main" id="{CA2C4665-A4AD-1BF6-064B-700382BE6D16}"/>
              </a:ext>
            </a:extLst>
          </p:cNvPr>
          <p:cNvSpPr txBox="1">
            <a:spLocks noGrp="1"/>
          </p:cNvSpPr>
          <p:nvPr/>
        </p:nvSpPr>
        <p:spPr>
          <a:xfrm>
            <a:off x="274385" y="1201619"/>
            <a:ext cx="11917615" cy="37313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400" b="0" i="0" u="none" strike="noStrike" cap="none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defRPr>
            </a:lvl1pPr>
            <a:lvl2pPr marL="914400" marR="0" lvl="1" indent="-3302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  <a:cs typeface="Sora SemiBold" panose="020B0604020202020204" charset="0"/>
              </a:rPr>
              <a:t>The project’s goals were achieved by developing an innovative system for real-time cable drum monitoring.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  <a:cs typeface="Sora SemiBold" panose="020B0604020202020204" charset="0"/>
              </a:rPr>
              <a:t>Smart lighting is a cornerstone of smart cities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  <a:cs typeface="Sora SemiBold" panose="020B0604020202020204" charset="0"/>
              </a:rPr>
              <a:t>Project successfully predicted energy usage &amp; classified weather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  <a:cs typeface="Sora SemiBold" panose="020B0604020202020204" charset="0"/>
              </a:rPr>
              <a:t>Aligned with ACUD’s vision of a digital, sustainable capital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  <a:latin typeface="Aptos" panose="020B0004020202020204" pitchFamily="34" charset="0"/>
              <a:cs typeface="Sora SemiBold" panose="020B0604020202020204" charset="0"/>
            </a:endParaRPr>
          </a:p>
          <a:p>
            <a:endParaRPr lang="en-US" sz="2400" dirty="0">
              <a:solidFill>
                <a:srgbClr val="002060"/>
              </a:solidFill>
              <a:latin typeface="Aptos" panose="020B0004020202020204" pitchFamily="34" charset="0"/>
              <a:cs typeface="Sora SemiBold" panose="020B0604020202020204" charset="0"/>
            </a:endParaRPr>
          </a:p>
          <a:p>
            <a:endParaRPr lang="en-US" sz="2400" dirty="0">
              <a:solidFill>
                <a:srgbClr val="002060"/>
              </a:solidFill>
              <a:latin typeface="Aptos" panose="020B0004020202020204" pitchFamily="34" charset="0"/>
              <a:cs typeface="Sora SemiBold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2060"/>
              </a:solidFill>
              <a:latin typeface="Aptos" panose="020B0004020202020204" pitchFamily="34" charset="0"/>
              <a:cs typeface="Sora SemiBold" panose="020B0604020202020204" charset="0"/>
            </a:endParaRPr>
          </a:p>
        </p:txBody>
      </p:sp>
      <p:sp>
        <p:nvSpPr>
          <p:cNvPr id="21" name="Google Shape;125;p6">
            <a:extLst>
              <a:ext uri="{FF2B5EF4-FFF2-40B4-BE49-F238E27FC236}">
                <a16:creationId xmlns:a16="http://schemas.microsoft.com/office/drawing/2014/main" id="{756242E4-44A0-BE0A-BEED-40597DEC4CB6}"/>
              </a:ext>
            </a:extLst>
          </p:cNvPr>
          <p:cNvSpPr txBox="1">
            <a:spLocks noGrp="1"/>
          </p:cNvSpPr>
          <p:nvPr/>
        </p:nvSpPr>
        <p:spPr>
          <a:xfrm>
            <a:off x="-308486" y="365207"/>
            <a:ext cx="3664972" cy="5887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3500" b="1" i="0" u="none" strike="noStrike" cap="none">
                <a:solidFill>
                  <a:schemeClr val="bg1"/>
                </a:solidFill>
                <a:latin typeface="Sora SemiBold" pitchFamily="2" charset="0"/>
                <a:ea typeface="Sora SemiBold" panose="020B0604020202020204" charset="0"/>
                <a:cs typeface="Sora SemiBold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 pitchFamily="34" charset="0"/>
                <a:sym typeface="Arial"/>
              </a:rPr>
              <a:t>Conclusion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22D194-581E-959B-FCC1-799AD69D54F9}"/>
              </a:ext>
            </a:extLst>
          </p:cNvPr>
          <p:cNvGrpSpPr/>
          <p:nvPr/>
        </p:nvGrpSpPr>
        <p:grpSpPr>
          <a:xfrm rot="10800000" flipV="1">
            <a:off x="9401501" y="3959232"/>
            <a:ext cx="2790499" cy="2898768"/>
            <a:chOff x="152400" y="3041650"/>
            <a:chExt cx="2252980" cy="225425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F6C9E25-63E0-7A6E-3E44-C055EA070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00" y="3041650"/>
              <a:ext cx="1135380" cy="1514475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58E8360-89E5-A2CB-977C-866225900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00" y="4558665"/>
              <a:ext cx="737235" cy="737235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8AF4"/>
            </a:solidFill>
            <a:ln>
              <a:noFill/>
            </a:ln>
          </p:spPr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F791809-67FC-1FA3-0A31-393ED413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100" y="4556760"/>
              <a:ext cx="1478280" cy="739140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7" name="Picture 16" descr="A black background with red letters&#10;&#10;AI-generated content may be incorrect.">
            <a:extLst>
              <a:ext uri="{FF2B5EF4-FFF2-40B4-BE49-F238E27FC236}">
                <a16:creationId xmlns:a16="http://schemas.microsoft.com/office/drawing/2014/main" id="{5112F580-880F-7343-7D54-653CA8B89E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36" y="5442322"/>
            <a:ext cx="2470150" cy="153949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5994400" y="2857499"/>
            <a:ext cx="6197600" cy="135648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Contact data</a:t>
            </a:r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2"/>
          </p:nvPr>
        </p:nvSpPr>
        <p:spPr>
          <a:xfrm>
            <a:off x="520196" y="296852"/>
            <a:ext cx="2774621" cy="2187105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cs typeface="Sora SemiBold" panose="020B0604020202020204" charset="0"/>
              </a:rPr>
              <a:t>06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451442-18AB-1598-D9A0-EFAA264F6E05}"/>
              </a:ext>
            </a:extLst>
          </p:cNvPr>
          <p:cNvGrpSpPr/>
          <p:nvPr/>
        </p:nvGrpSpPr>
        <p:grpSpPr>
          <a:xfrm rot="10800000" flipV="1">
            <a:off x="8876235" y="5830453"/>
            <a:ext cx="4209143" cy="1233716"/>
            <a:chOff x="-258098" y="4115513"/>
            <a:chExt cx="3691861" cy="1027987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2373D6B-7F7F-55F5-35BF-FFD05A2AC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9D6648B-8CBA-832A-16A1-1770D98E1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8" y="4267200"/>
              <a:ext cx="2924175" cy="8763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8329D6BA-3E4F-1157-4DEF-60C393F6D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0" y="4372173"/>
              <a:ext cx="2521974" cy="771326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A4CE06B-FC5F-6BDC-21CC-8E8B416ADCF8}"/>
              </a:ext>
            </a:extLst>
          </p:cNvPr>
          <p:cNvGrpSpPr/>
          <p:nvPr/>
        </p:nvGrpSpPr>
        <p:grpSpPr>
          <a:xfrm>
            <a:off x="11604774" y="-372332"/>
            <a:ext cx="723105" cy="2453467"/>
            <a:chOff x="8405486" y="-381319"/>
            <a:chExt cx="840423" cy="285152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C4B0A3BA-58C3-BCFD-04D7-80ED89F13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05486" y="0"/>
              <a:ext cx="738514" cy="24702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AA27249-E9AC-E19E-07E6-6E7F82824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95236" y="1"/>
              <a:ext cx="448764" cy="174740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A9AE4B9-E4C6-1606-3125-42B616F17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853251" y="-381319"/>
              <a:ext cx="392658" cy="1283860"/>
            </a:xfrm>
            <a:prstGeom prst="rect">
              <a:avLst/>
            </a:prstGeom>
          </p:spPr>
        </p:pic>
      </p:grpSp>
      <p:pic>
        <p:nvPicPr>
          <p:cNvPr id="12" name="Picture 11" descr="A green and yellow gear with a lightning bolt&#10;&#10;AI-generated content may be incorrect.">
            <a:extLst>
              <a:ext uri="{FF2B5EF4-FFF2-40B4-BE49-F238E27FC236}">
                <a16:creationId xmlns:a16="http://schemas.microsoft.com/office/drawing/2014/main" id="{CCED1B81-3205-6DE7-F5A2-17491C5CD7E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225" y="2199405"/>
            <a:ext cx="2941975" cy="294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694333" y="2408436"/>
            <a:ext cx="4629150" cy="5786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761970">
              <a:lnSpc>
                <a:spcPts val="4556"/>
              </a:lnSpc>
            </a:pPr>
            <a:endParaRPr lang="en-US" sz="36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2"/>
          <p:cNvSpPr/>
          <p:nvPr/>
        </p:nvSpPr>
        <p:spPr>
          <a:xfrm>
            <a:off x="884430" y="1472232"/>
            <a:ext cx="10613237" cy="4236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>
                <a:latin typeface="Aptos" panose="020B0004020202020204" pitchFamily="34" charset="0"/>
              </a:rPr>
              <a:t>For further information  </a:t>
            </a:r>
          </a:p>
          <a:p>
            <a:r>
              <a:rPr lang="en-US" sz="2400" dirty="0">
                <a:latin typeface="Aptos" panose="020B0004020202020204" pitchFamily="34" charset="0"/>
              </a:rPr>
              <a:t>Connect me :- </a:t>
            </a:r>
          </a:p>
          <a:p>
            <a:endParaRPr lang="en-US" sz="2400" dirty="0">
              <a:highlight>
                <a:srgbClr val="FFFFFF"/>
              </a:highlight>
              <a:latin typeface="Aptos" panose="020B0004020202020204" pitchFamily="34" charset="0"/>
              <a:hlinkClick r:id="rId3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FF"/>
                </a:highlight>
                <a:latin typeface="Aptos" panose="020B0004020202020204" pitchFamily="34" charset="0"/>
                <a:hlinkClick r:id="rId3"/>
              </a:rPr>
              <a:t>as2301514@tkh.edu.eg</a:t>
            </a:r>
            <a:endParaRPr lang="en-US" sz="2400" dirty="0"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FF"/>
                </a:highlight>
                <a:latin typeface="Aptos" panose="020B0004020202020204" pitchFamily="34" charset="0"/>
              </a:rPr>
              <a:t>01115030191</a:t>
            </a:r>
          </a:p>
          <a:p>
            <a:endParaRPr lang="en-US" sz="2400" dirty="0">
              <a:highlight>
                <a:srgbClr val="FFFFFF"/>
              </a:highlight>
              <a:latin typeface="Aptos" panose="020B0004020202020204" pitchFamily="34" charset="0"/>
            </a:endParaRPr>
          </a:p>
          <a:p>
            <a:endParaRPr lang="en-US" sz="2400" dirty="0">
              <a:highlight>
                <a:srgbClr val="FFFFFF"/>
              </a:highlight>
              <a:latin typeface="Aptos" panose="020B0004020202020204" pitchFamily="34" charset="0"/>
            </a:endParaRPr>
          </a:p>
          <a:p>
            <a:endParaRPr lang="en-US" sz="2400" b="0" i="0" dirty="0"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99FFA44E-16FB-855F-C5A2-C819C7DBC510}"/>
              </a:ext>
            </a:extLst>
          </p:cNvPr>
          <p:cNvSpPr txBox="1"/>
          <p:nvPr/>
        </p:nvSpPr>
        <p:spPr>
          <a:xfrm rot="5400000">
            <a:off x="-3357962" y="3357961"/>
            <a:ext cx="6858000" cy="142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</a:endParaRPr>
          </a:p>
        </p:txBody>
      </p:sp>
      <p:grpSp>
        <p:nvGrpSpPr>
          <p:cNvPr id="9" name="Group 39">
            <a:extLst>
              <a:ext uri="{FF2B5EF4-FFF2-40B4-BE49-F238E27FC236}">
                <a16:creationId xmlns:a16="http://schemas.microsoft.com/office/drawing/2014/main" id="{908336D1-4EBB-F4FF-9768-3507B6237348}"/>
              </a:ext>
            </a:extLst>
          </p:cNvPr>
          <p:cNvGrpSpPr/>
          <p:nvPr/>
        </p:nvGrpSpPr>
        <p:grpSpPr>
          <a:xfrm>
            <a:off x="7529681" y="-51339"/>
            <a:ext cx="6356013" cy="741530"/>
            <a:chOff x="0" y="0"/>
            <a:chExt cx="1876002" cy="218865"/>
          </a:xfrm>
        </p:grpSpPr>
        <p:sp>
          <p:nvSpPr>
            <p:cNvPr id="10" name="Freeform 40">
              <a:extLst>
                <a:ext uri="{FF2B5EF4-FFF2-40B4-BE49-F238E27FC236}">
                  <a16:creationId xmlns:a16="http://schemas.microsoft.com/office/drawing/2014/main" id="{4AB6879C-F71C-AA02-57ED-ACA268D8396E}"/>
                </a:ext>
              </a:extLst>
            </p:cNvPr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41">
              <a:extLst>
                <a:ext uri="{FF2B5EF4-FFF2-40B4-BE49-F238E27FC236}">
                  <a16:creationId xmlns:a16="http://schemas.microsoft.com/office/drawing/2014/main" id="{6315494C-4555-F12A-74EA-9F623F721972}"/>
                </a:ext>
              </a:extLst>
            </p:cNvPr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906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" name="AutoShape 42">
            <a:extLst>
              <a:ext uri="{FF2B5EF4-FFF2-40B4-BE49-F238E27FC236}">
                <a16:creationId xmlns:a16="http://schemas.microsoft.com/office/drawing/2014/main" id="{53B4E6D1-E701-78DA-1940-0BD00AE96FEA}"/>
              </a:ext>
            </a:extLst>
          </p:cNvPr>
          <p:cNvSpPr/>
          <p:nvPr/>
        </p:nvSpPr>
        <p:spPr>
          <a:xfrm>
            <a:off x="303142" y="1275530"/>
            <a:ext cx="86141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450504F3-F857-B5F5-B89B-08DAB73AF551}"/>
              </a:ext>
            </a:extLst>
          </p:cNvPr>
          <p:cNvSpPr/>
          <p:nvPr/>
        </p:nvSpPr>
        <p:spPr>
          <a:xfrm>
            <a:off x="303142" y="500185"/>
            <a:ext cx="4629150" cy="5786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defTabSz="761970">
              <a:lnSpc>
                <a:spcPts val="4556"/>
              </a:lnSpc>
            </a:pPr>
            <a:r>
              <a:rPr lang="en-US" sz="5400" dirty="0">
                <a:solidFill>
                  <a:srgbClr val="00B050"/>
                </a:solidFill>
                <a:latin typeface="Aptos" panose="020B0004020202020204" pitchFamily="34" charset="0"/>
                <a:ea typeface="Gelasio" pitchFamily="34" charset="-122"/>
                <a:cs typeface="Gelasio" pitchFamily="34" charset="-120"/>
              </a:rPr>
              <a:t>Contact data</a:t>
            </a:r>
            <a:endParaRPr lang="en-US" sz="5400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E3AC03-76D8-1C0E-B1CB-6563339242C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BB8AF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0465073" y="3360060"/>
            <a:ext cx="2487384" cy="37310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49E7A9-5308-B457-8A14-D25930085B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99" y="2703527"/>
            <a:ext cx="539888" cy="539888"/>
          </a:xfrm>
          <a:prstGeom prst="rect">
            <a:avLst/>
          </a:prstGeom>
        </p:spPr>
      </p:pic>
      <p:pic>
        <p:nvPicPr>
          <p:cNvPr id="2" name="Picture 6" descr="Home Page">
            <a:extLst>
              <a:ext uri="{FF2B5EF4-FFF2-40B4-BE49-F238E27FC236}">
                <a16:creationId xmlns:a16="http://schemas.microsoft.com/office/drawing/2014/main" id="{499264B5-09E5-06B9-1074-BB6BED901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91" y="696480"/>
            <a:ext cx="2990509" cy="186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BEF8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4F82409-E909-CEF1-2EC7-539204EBFC5D}"/>
              </a:ext>
            </a:extLst>
          </p:cNvPr>
          <p:cNvGrpSpPr/>
          <p:nvPr/>
        </p:nvGrpSpPr>
        <p:grpSpPr>
          <a:xfrm flipH="1" flipV="1">
            <a:off x="7882467" y="-106356"/>
            <a:ext cx="4922480" cy="1457848"/>
            <a:chOff x="-258097" y="4115513"/>
            <a:chExt cx="3691860" cy="1093386"/>
          </a:xfrm>
          <a:solidFill>
            <a:schemeClr val="bg1"/>
          </a:solidFill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B51CADF-9894-3C73-7DEA-654381BB2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4115513"/>
              <a:ext cx="3433763" cy="1027987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F973E413-4AB9-851F-27CF-1EBBEB3BA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58097" y="4303552"/>
              <a:ext cx="2924175" cy="8763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B7979A2-3DA3-65DE-F3A9-1EBCD858B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56997" y="4437574"/>
              <a:ext cx="2521974" cy="771325"/>
            </a:xfrm>
            <a:prstGeom prst="rect">
              <a:avLst/>
            </a:prstGeom>
          </p:spPr>
        </p:pic>
      </p:grpSp>
      <p:sp>
        <p:nvSpPr>
          <p:cNvPr id="27" name="Google Shape;262;p13">
            <a:extLst>
              <a:ext uri="{FF2B5EF4-FFF2-40B4-BE49-F238E27FC236}">
                <a16:creationId xmlns:a16="http://schemas.microsoft.com/office/drawing/2014/main" id="{71BEE6DE-6862-3383-9607-9B79D36713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8064" y="3323764"/>
            <a:ext cx="6917448" cy="1229852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b" anchorCtr="0">
            <a:noAutofit/>
          </a:bodyPr>
          <a:lstStyle/>
          <a:p>
            <a:pPr lvl="0"/>
            <a:r>
              <a:rPr lang="en-US" sz="13800" dirty="0">
                <a:solidFill>
                  <a:schemeClr val="bg2"/>
                </a:solidFill>
                <a:latin typeface="Aptos" panose="020B0004020202020204" pitchFamily="34" charset="0"/>
              </a:rPr>
              <a:t>Thanks!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D70B47-7446-950E-BA9B-62B9264EEEE4}"/>
              </a:ext>
            </a:extLst>
          </p:cNvPr>
          <p:cNvSpPr txBox="1"/>
          <p:nvPr/>
        </p:nvSpPr>
        <p:spPr>
          <a:xfrm>
            <a:off x="3649784" y="4199673"/>
            <a:ext cx="6404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4000" kern="0" dirty="0">
                <a:solidFill>
                  <a:srgbClr val="FFFFFF"/>
                </a:solidFill>
                <a:latin typeface="Aptos" panose="020B0004020202020204" pitchFamily="34" charset="0"/>
                <a:cs typeface="Sora SemiBold" panose="020B0604020202020204" charset="0"/>
                <a:sym typeface="Arial"/>
              </a:rPr>
              <a:t>Any Questions? :) </a:t>
            </a:r>
          </a:p>
        </p:txBody>
      </p:sp>
      <p:pic>
        <p:nvPicPr>
          <p:cNvPr id="7" name="Picture 6" descr="A black background with red letters&#10;&#10;AI-generated content may be incorrect.">
            <a:extLst>
              <a:ext uri="{FF2B5EF4-FFF2-40B4-BE49-F238E27FC236}">
                <a16:creationId xmlns:a16="http://schemas.microsoft.com/office/drawing/2014/main" id="{DA8B186B-E070-B0A9-1605-2664B803C7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9" y="257810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3886"/>
      </p:ext>
    </p:extLst>
  </p:cSld>
  <p:clrMapOvr>
    <a:masterClrMapping/>
  </p:clrMapOvr>
  <p:transition spd="slow" advClick="0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sulting with Morph Transition by Slidesgo">
  <a:themeElements>
    <a:clrScheme name="Custom 3">
      <a:dk1>
        <a:srgbClr val="000000"/>
      </a:dk1>
      <a:lt1>
        <a:srgbClr val="2C2A96"/>
      </a:lt1>
      <a:dk2>
        <a:srgbClr val="FFFFFF"/>
      </a:dk2>
      <a:lt2>
        <a:srgbClr val="667EF1"/>
      </a:lt2>
      <a:accent1>
        <a:srgbClr val="B2BE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sulting with Morph Transition by Slidesgo">
  <a:themeElements>
    <a:clrScheme name="Custom 3">
      <a:dk1>
        <a:srgbClr val="000000"/>
      </a:dk1>
      <a:lt1>
        <a:srgbClr val="2C2A96"/>
      </a:lt1>
      <a:dk2>
        <a:srgbClr val="FFFFFF"/>
      </a:dk2>
      <a:lt2>
        <a:srgbClr val="667EF1"/>
      </a:lt2>
      <a:accent1>
        <a:srgbClr val="B2BE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9658</TotalTime>
  <Words>1562</Words>
  <Application>Microsoft Office PowerPoint</Application>
  <PresentationFormat>Widescreen</PresentationFormat>
  <Paragraphs>250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Agency FB</vt:lpstr>
      <vt:lpstr>Aptos</vt:lpstr>
      <vt:lpstr>Arial</vt:lpstr>
      <vt:lpstr>Bebas Neue</vt:lpstr>
      <vt:lpstr>Calibri</vt:lpstr>
      <vt:lpstr>Calibri Light</vt:lpstr>
      <vt:lpstr>Lato</vt:lpstr>
      <vt:lpstr>Sora SemiBold</vt:lpstr>
      <vt:lpstr>Wingdings</vt:lpstr>
      <vt:lpstr>Office Theme</vt:lpstr>
      <vt:lpstr>Consulting with Morph Transition by Slidesgo</vt:lpstr>
      <vt:lpstr>1_Consulting with Morph Transition by Slidesgo</vt:lpstr>
      <vt:lpstr>2_Office Theme</vt:lpstr>
      <vt:lpstr>AI-powered Smart Lighting &amp; Energy Management for Smart Cities</vt:lpstr>
      <vt:lpstr>PowerPoint Presentation</vt:lpstr>
      <vt:lpstr>Introduction </vt:lpstr>
      <vt:lpstr>Introduction:- </vt:lpstr>
      <vt:lpstr>Background information:- </vt:lpstr>
      <vt:lpstr>Objective </vt:lpstr>
      <vt:lpstr>Idea of the project</vt:lpstr>
      <vt:lpstr>System Overview</vt:lpstr>
      <vt:lpstr>Data Collection</vt:lpstr>
      <vt:lpstr>EDA</vt:lpstr>
      <vt:lpstr>Preprocessing Steps</vt:lpstr>
      <vt:lpstr>Choosing the model🌳 </vt:lpstr>
      <vt:lpstr>Choosing the model 🌳 </vt:lpstr>
      <vt:lpstr>Model Evaluation</vt:lpstr>
      <vt:lpstr>Summarize</vt:lpstr>
      <vt:lpstr>Recommendations</vt:lpstr>
      <vt:lpstr>Recommendations</vt:lpstr>
      <vt:lpstr>Recommendations</vt:lpstr>
      <vt:lpstr>PowerPoint Presentation</vt:lpstr>
      <vt:lpstr>Business Plan</vt:lpstr>
      <vt:lpstr>Real Application</vt:lpstr>
      <vt:lpstr>Fit with ACUD</vt:lpstr>
      <vt:lpstr>Fit with ACUD</vt:lpstr>
      <vt:lpstr>Fit with ACUD</vt:lpstr>
      <vt:lpstr>PowerPoint Presentation</vt:lpstr>
      <vt:lpstr>Conclusion</vt:lpstr>
      <vt:lpstr>PowerPoint Presentation</vt:lpstr>
      <vt:lpstr>Contact data</vt:lpstr>
      <vt:lpstr>PowerPoint Presentation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Pick-and-Place Robot</dc:title>
  <dc:creator>Abdalah M Saad</dc:creator>
  <cp:lastModifiedBy>3bdalah Mohamed</cp:lastModifiedBy>
  <cp:revision>70</cp:revision>
  <dcterms:created xsi:type="dcterms:W3CDTF">2024-04-20T15:46:15Z</dcterms:created>
  <dcterms:modified xsi:type="dcterms:W3CDTF">2025-08-27T15:20:26Z</dcterms:modified>
</cp:coreProperties>
</file>